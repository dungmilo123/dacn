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55773c03524f5c" /><Relationship Type="http://schemas.openxmlformats.org/officeDocument/2006/relationships/extended-properties" Target="/docProps/app.xml" Id="R8dcc568418074a7c" /><Relationship Type="http://schemas.openxmlformats.org/officeDocument/2006/relationships/officeDocument" Target="/ppt/presentation.xml" Id="Rfa934737093745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5cb3eb4124953"/>
  </p:sldMasterIdLst>
  <p:notesMasterIdLst>
    <p:notesMasterId xmlns:r="http://schemas.openxmlformats.org/officeDocument/2006/relationships" r:id="R705c425f9e9f447c"/>
  </p:notesMasterIdLst>
  <p:sldIdLst>
    <p:sldId xmlns:r="http://schemas.openxmlformats.org/officeDocument/2006/relationships" id="256" r:id="R87f1823f0d394048"/>
    <p:sldId xmlns:r="http://schemas.openxmlformats.org/officeDocument/2006/relationships" id="257" r:id="R1de17fd255444c21"/>
    <p:sldId xmlns:r="http://schemas.openxmlformats.org/officeDocument/2006/relationships" id="258" r:id="Rcc31f80878794c3e"/>
    <p:sldId xmlns:r="http://schemas.openxmlformats.org/officeDocument/2006/relationships" id="259" r:id="Rc66c3190345048fa"/>
    <p:sldId xmlns:r="http://schemas.openxmlformats.org/officeDocument/2006/relationships" id="260" r:id="Rb28c7d13e15b43ec"/>
    <p:sldId xmlns:r="http://schemas.openxmlformats.org/officeDocument/2006/relationships" id="261" r:id="Raf1a61165d254adf"/>
    <p:sldId xmlns:r="http://schemas.openxmlformats.org/officeDocument/2006/relationships" id="262" r:id="R5e8c9d96bbf54f93"/>
    <p:sldId xmlns:r="http://schemas.openxmlformats.org/officeDocument/2006/relationships" id="263" r:id="R330947df59ec4863"/>
    <p:sldId xmlns:r="http://schemas.openxmlformats.org/officeDocument/2006/relationships" id="264" r:id="R2c3acd7d102a40d3"/>
    <p:sldId xmlns:r="http://schemas.openxmlformats.org/officeDocument/2006/relationships" id="265" r:id="Rd99cbb00a7eb4ad2"/>
    <p:sldId xmlns:r="http://schemas.openxmlformats.org/officeDocument/2006/relationships" id="266" r:id="R26bff6a2ebde410a"/>
    <p:sldId xmlns:r="http://schemas.openxmlformats.org/officeDocument/2006/relationships" id="267" r:id="R8788dc5c9daf470f"/>
    <p:sldId xmlns:r="http://schemas.openxmlformats.org/officeDocument/2006/relationships" id="268" r:id="Rd2264f8679ee4882"/>
    <p:sldId xmlns:r="http://schemas.openxmlformats.org/officeDocument/2006/relationships" id="269" r:id="R84b81916ee1e4210"/>
    <p:sldId xmlns:r="http://schemas.openxmlformats.org/officeDocument/2006/relationships" id="270" r:id="Rb83ffadbfe1840ef"/>
    <p:sldId xmlns:r="http://schemas.openxmlformats.org/officeDocument/2006/relationships" id="271" r:id="Raf4e543d29b44b0d"/>
    <p:sldId xmlns:r="http://schemas.openxmlformats.org/officeDocument/2006/relationships" id="272" r:id="R4869021dd44445ee"/>
    <p:sldId xmlns:r="http://schemas.openxmlformats.org/officeDocument/2006/relationships" id="273" r:id="R87683ea3edd347f3"/>
    <p:sldId xmlns:r="http://schemas.openxmlformats.org/officeDocument/2006/relationships" id="274" r:id="Rc000e3166c6f46d2"/>
    <p:sldId xmlns:r="http://schemas.openxmlformats.org/officeDocument/2006/relationships" id="275" r:id="R1cbeb78f88514e36"/>
    <p:sldId xmlns:r="http://schemas.openxmlformats.org/officeDocument/2006/relationships" id="276" r:id="R913556e14d3445d0"/>
    <p:sldId xmlns:r="http://schemas.openxmlformats.org/officeDocument/2006/relationships" id="277" r:id="Rdd10fd36d2d642c2"/>
    <p:sldId xmlns:r="http://schemas.openxmlformats.org/officeDocument/2006/relationships" id="278" r:id="R9af8d88002314723"/>
    <p:sldId xmlns:r="http://schemas.openxmlformats.org/officeDocument/2006/relationships" id="279" r:id="R920e888b809b42b6"/>
    <p:sldId xmlns:r="http://schemas.openxmlformats.org/officeDocument/2006/relationships" id="280" r:id="R3a7a6d2a0b5c4d8f"/>
    <p:sldId xmlns:r="http://schemas.openxmlformats.org/officeDocument/2006/relationships" id="281" r:id="Rdbeb1cf0bd89460c"/>
    <p:sldId xmlns:r="http://schemas.openxmlformats.org/officeDocument/2006/relationships" id="282" r:id="R65afd075cf654e18"/>
    <p:sldId xmlns:r="http://schemas.openxmlformats.org/officeDocument/2006/relationships" id="283" r:id="Ra8a0c31a74fb4ae2"/>
    <p:sldId xmlns:r="http://schemas.openxmlformats.org/officeDocument/2006/relationships" id="284" r:id="Ra81753328ef646f4"/>
    <p:sldId xmlns:r="http://schemas.openxmlformats.org/officeDocument/2006/relationships" id="285" r:id="R54d31272db4d4cb1"/>
    <p:sldId xmlns:r="http://schemas.openxmlformats.org/officeDocument/2006/relationships" id="286" r:id="Rea2b7c2ec04f4e07"/>
    <p:sldId xmlns:r="http://schemas.openxmlformats.org/officeDocument/2006/relationships" id="287" r:id="R39bdf147030d406d"/>
    <p:sldId xmlns:r="http://schemas.openxmlformats.org/officeDocument/2006/relationships" id="288" r:id="R6d7ff559efee4a40"/>
    <p:sldId xmlns:r="http://schemas.openxmlformats.org/officeDocument/2006/relationships" id="289" r:id="R8737d88673f04830"/>
    <p:sldId xmlns:r="http://schemas.openxmlformats.org/officeDocument/2006/relationships" id="290" r:id="R541c9e96dcb74e3c"/>
    <p:sldId xmlns:r="http://schemas.openxmlformats.org/officeDocument/2006/relationships" id="291" r:id="R4414876f9a0c44ce"/>
    <p:sldId xmlns:r="http://schemas.openxmlformats.org/officeDocument/2006/relationships" id="292" r:id="Re9c879729b194141"/>
    <p:sldId xmlns:r="http://schemas.openxmlformats.org/officeDocument/2006/relationships" id="293" r:id="R2dac7baa75984d97"/>
    <p:sldId xmlns:r="http://schemas.openxmlformats.org/officeDocument/2006/relationships" id="294" r:id="R0bd66ef07d164153"/>
    <p:sldId xmlns:r="http://schemas.openxmlformats.org/officeDocument/2006/relationships" id="295" r:id="Rc7a13c8af6494c63"/>
    <p:sldId xmlns:r="http://schemas.openxmlformats.org/officeDocument/2006/relationships" id="296" r:id="R3dbefa97fe074887"/>
    <p:sldId xmlns:r="http://schemas.openxmlformats.org/officeDocument/2006/relationships" id="297" r:id="R92f9122e01134aa6"/>
    <p:sldId xmlns:r="http://schemas.openxmlformats.org/officeDocument/2006/relationships" id="298" r:id="R5e6b7cf0f0074b11"/>
    <p:sldId xmlns:r="http://schemas.openxmlformats.org/officeDocument/2006/relationships" id="299" r:id="R9c61b82777644063"/>
    <p:sldId xmlns:r="http://schemas.openxmlformats.org/officeDocument/2006/relationships" id="300" r:id="Rf57a9022cf264b1f"/>
    <p:sldId xmlns:r="http://schemas.openxmlformats.org/officeDocument/2006/relationships" id="301" r:id="R7ced90369eac423e"/>
    <p:sldId xmlns:r="http://schemas.openxmlformats.org/officeDocument/2006/relationships" id="302" r:id="R331741a9b0f24c98"/>
    <p:sldId xmlns:r="http://schemas.openxmlformats.org/officeDocument/2006/relationships" id="303" r:id="R051dea3bdf3f4fbb"/>
    <p:sldId xmlns:r="http://schemas.openxmlformats.org/officeDocument/2006/relationships" id="304" r:id="R0c526f6ce2414b95"/>
    <p:sldId xmlns:r="http://schemas.openxmlformats.org/officeDocument/2006/relationships" id="305" r:id="R05f37f54e7034b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0b6d185c7441c8" /><Relationship Type="http://schemas.openxmlformats.org/officeDocument/2006/relationships/slideMaster" Target="/ppt/slideMasters/slideMaster1.xml" Id="R8cb5cb3eb4124953" /><Relationship Type="http://schemas.openxmlformats.org/officeDocument/2006/relationships/notesMaster" Target="/ppt/notesMasters/notesMaster1.xml" Id="R705c425f9e9f447c" /><Relationship Type="http://schemas.openxmlformats.org/officeDocument/2006/relationships/presProps" Target="/ppt/presProps.xml" Id="R4d60954d6fb94217" /><Relationship Type="http://schemas.openxmlformats.org/officeDocument/2006/relationships/tableStyles" Target="/ppt/tableStyles.xml" Id="Rf94a287f395b4a8a" /><Relationship Type="http://schemas.openxmlformats.org/officeDocument/2006/relationships/slide" Target="/ppt/slides/slide1.xml" Id="R87f1823f0d394048" /><Relationship Type="http://schemas.openxmlformats.org/officeDocument/2006/relationships/slide" Target="/ppt/slides/slide2.xml" Id="R1de17fd255444c21" /><Relationship Type="http://schemas.openxmlformats.org/officeDocument/2006/relationships/slide" Target="/ppt/slides/slide3.xml" Id="Rcc31f80878794c3e" /><Relationship Type="http://schemas.openxmlformats.org/officeDocument/2006/relationships/slide" Target="/ppt/slides/slide4.xml" Id="Rc66c3190345048fa" /><Relationship Type="http://schemas.openxmlformats.org/officeDocument/2006/relationships/slide" Target="/ppt/slides/slide5.xml" Id="Rb28c7d13e15b43ec" /><Relationship Type="http://schemas.openxmlformats.org/officeDocument/2006/relationships/slide" Target="/ppt/slides/slide6.xml" Id="Raf1a61165d254adf" /><Relationship Type="http://schemas.openxmlformats.org/officeDocument/2006/relationships/slide" Target="/ppt/slides/slide7.xml" Id="R5e8c9d96bbf54f93" /><Relationship Type="http://schemas.openxmlformats.org/officeDocument/2006/relationships/slide" Target="/ppt/slides/slide8.xml" Id="R330947df59ec4863" /><Relationship Type="http://schemas.openxmlformats.org/officeDocument/2006/relationships/slide" Target="/ppt/slides/slide9.xml" Id="R2c3acd7d102a40d3" /><Relationship Type="http://schemas.openxmlformats.org/officeDocument/2006/relationships/slide" Target="/ppt/slides/slide10.xml" Id="Rd99cbb00a7eb4ad2" /><Relationship Type="http://schemas.openxmlformats.org/officeDocument/2006/relationships/slide" Target="/ppt/slides/slide11.xml" Id="R26bff6a2ebde410a" /><Relationship Type="http://schemas.openxmlformats.org/officeDocument/2006/relationships/slide" Target="/ppt/slides/slide12.xml" Id="R8788dc5c9daf470f" /><Relationship Type="http://schemas.openxmlformats.org/officeDocument/2006/relationships/slide" Target="/ppt/slides/slide13.xml" Id="Rd2264f8679ee4882" /><Relationship Type="http://schemas.openxmlformats.org/officeDocument/2006/relationships/slide" Target="/ppt/slides/slide14.xml" Id="R84b81916ee1e4210" /><Relationship Type="http://schemas.openxmlformats.org/officeDocument/2006/relationships/slide" Target="/ppt/slides/slide15.xml" Id="Rb83ffadbfe1840ef" /><Relationship Type="http://schemas.openxmlformats.org/officeDocument/2006/relationships/slide" Target="/ppt/slides/slide16.xml" Id="Raf4e543d29b44b0d" /><Relationship Type="http://schemas.openxmlformats.org/officeDocument/2006/relationships/slide" Target="/ppt/slides/slide17.xml" Id="R4869021dd44445ee" /><Relationship Type="http://schemas.openxmlformats.org/officeDocument/2006/relationships/slide" Target="/ppt/slides/slide18.xml" Id="R87683ea3edd347f3" /><Relationship Type="http://schemas.openxmlformats.org/officeDocument/2006/relationships/slide" Target="/ppt/slides/slide19.xml" Id="Rc000e3166c6f46d2" /><Relationship Type="http://schemas.openxmlformats.org/officeDocument/2006/relationships/slide" Target="/ppt/slides/slide20.xml" Id="R1cbeb78f88514e36" /><Relationship Type="http://schemas.openxmlformats.org/officeDocument/2006/relationships/slide" Target="/ppt/slides/slide21.xml" Id="R913556e14d3445d0" /><Relationship Type="http://schemas.openxmlformats.org/officeDocument/2006/relationships/slide" Target="/ppt/slides/slide22.xml" Id="Rdd10fd36d2d642c2" /><Relationship Type="http://schemas.openxmlformats.org/officeDocument/2006/relationships/slide" Target="/ppt/slides/slide23.xml" Id="R9af8d88002314723" /><Relationship Type="http://schemas.openxmlformats.org/officeDocument/2006/relationships/slide" Target="/ppt/slides/slide24.xml" Id="R920e888b809b42b6" /><Relationship Type="http://schemas.openxmlformats.org/officeDocument/2006/relationships/slide" Target="/ppt/slides/slide25.xml" Id="R3a7a6d2a0b5c4d8f" /><Relationship Type="http://schemas.openxmlformats.org/officeDocument/2006/relationships/slide" Target="/ppt/slides/slide26.xml" Id="Rdbeb1cf0bd89460c" /><Relationship Type="http://schemas.openxmlformats.org/officeDocument/2006/relationships/slide" Target="/ppt/slides/slide27.xml" Id="R65afd075cf654e18" /><Relationship Type="http://schemas.openxmlformats.org/officeDocument/2006/relationships/slide" Target="/ppt/slides/slide28.xml" Id="Ra8a0c31a74fb4ae2" /><Relationship Type="http://schemas.openxmlformats.org/officeDocument/2006/relationships/slide" Target="/ppt/slides/slide29.xml" Id="Ra81753328ef646f4" /><Relationship Type="http://schemas.openxmlformats.org/officeDocument/2006/relationships/slide" Target="/ppt/slides/slide30.xml" Id="R54d31272db4d4cb1" /><Relationship Type="http://schemas.openxmlformats.org/officeDocument/2006/relationships/slide" Target="/ppt/slides/slide31.xml" Id="Rea2b7c2ec04f4e07" /><Relationship Type="http://schemas.openxmlformats.org/officeDocument/2006/relationships/slide" Target="/ppt/slides/slide32.xml" Id="R39bdf147030d406d" /><Relationship Type="http://schemas.openxmlformats.org/officeDocument/2006/relationships/slide" Target="/ppt/slides/slide33.xml" Id="R6d7ff559efee4a40" /><Relationship Type="http://schemas.openxmlformats.org/officeDocument/2006/relationships/slide" Target="/ppt/slides/slide34.xml" Id="R8737d88673f04830" /><Relationship Type="http://schemas.openxmlformats.org/officeDocument/2006/relationships/slide" Target="/ppt/slides/slide35.xml" Id="R541c9e96dcb74e3c" /><Relationship Type="http://schemas.openxmlformats.org/officeDocument/2006/relationships/slide" Target="/ppt/slides/slide36.xml" Id="R4414876f9a0c44ce" /><Relationship Type="http://schemas.openxmlformats.org/officeDocument/2006/relationships/slide" Target="/ppt/slides/slide37.xml" Id="Re9c879729b194141" /><Relationship Type="http://schemas.openxmlformats.org/officeDocument/2006/relationships/slide" Target="/ppt/slides/slide38.xml" Id="R2dac7baa75984d97" /><Relationship Type="http://schemas.openxmlformats.org/officeDocument/2006/relationships/slide" Target="/ppt/slides/slide39.xml" Id="R0bd66ef07d164153" /><Relationship Type="http://schemas.openxmlformats.org/officeDocument/2006/relationships/slide" Target="/ppt/slides/slide40.xml" Id="Rc7a13c8af6494c63" /><Relationship Type="http://schemas.openxmlformats.org/officeDocument/2006/relationships/slide" Target="/ppt/slides/slide41.xml" Id="R3dbefa97fe074887" /><Relationship Type="http://schemas.openxmlformats.org/officeDocument/2006/relationships/slide" Target="/ppt/slides/slide42.xml" Id="R92f9122e01134aa6" /><Relationship Type="http://schemas.openxmlformats.org/officeDocument/2006/relationships/slide" Target="/ppt/slides/slide43.xml" Id="R5e6b7cf0f0074b11" /><Relationship Type="http://schemas.openxmlformats.org/officeDocument/2006/relationships/slide" Target="/ppt/slides/slide44.xml" Id="R9c61b82777644063" /><Relationship Type="http://schemas.openxmlformats.org/officeDocument/2006/relationships/slide" Target="/ppt/slides/slide45.xml" Id="Rf57a9022cf264b1f" /><Relationship Type="http://schemas.openxmlformats.org/officeDocument/2006/relationships/slide" Target="/ppt/slides/slide46.xml" Id="R7ced90369eac423e" /><Relationship Type="http://schemas.openxmlformats.org/officeDocument/2006/relationships/slide" Target="/ppt/slides/slide47.xml" Id="R331741a9b0f24c98" /><Relationship Type="http://schemas.openxmlformats.org/officeDocument/2006/relationships/slide" Target="/ppt/slides/slide48.xml" Id="R051dea3bdf3f4fbb" /><Relationship Type="http://schemas.openxmlformats.org/officeDocument/2006/relationships/slide" Target="/ppt/slides/slide49.xml" Id="R0c526f6ce2414b95" /><Relationship Type="http://schemas.openxmlformats.org/officeDocument/2006/relationships/slide" Target="/ppt/slides/slide50.xml" Id="R05f37f54e703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09287cdea46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53b13204e8437a" /><Relationship Type="http://schemas.openxmlformats.org/officeDocument/2006/relationships/notesMaster" Target="/ppt/notesMasters/notesMaster1.xml" Id="R4033055ce82347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91d765632f45d9" /><Relationship Type="http://schemas.openxmlformats.org/officeDocument/2006/relationships/notesMaster" Target="/ppt/notesMasters/notesMaster1.xml" Id="R05d4be001c7641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2e5fc683b4739" /><Relationship Type="http://schemas.openxmlformats.org/officeDocument/2006/relationships/notesMaster" Target="/ppt/notesMasters/notesMaster1.xml" Id="Rcef9ed650ad947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2bca9cb544570" /><Relationship Type="http://schemas.openxmlformats.org/officeDocument/2006/relationships/notesMaster" Target="/ppt/notesMasters/notesMaster1.xml" Id="R5f85fc0f3b0046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2524b539f4249" /><Relationship Type="http://schemas.openxmlformats.org/officeDocument/2006/relationships/notesMaster" Target="/ppt/notesMasters/notesMaster1.xml" Id="Re81979d40b824e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98817d0d54b98" /><Relationship Type="http://schemas.openxmlformats.org/officeDocument/2006/relationships/notesMaster" Target="/ppt/notesMasters/notesMaster1.xml" Id="Rc82d93a8d671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d04211d6854b5d" /><Relationship Type="http://schemas.openxmlformats.org/officeDocument/2006/relationships/notesMaster" Target="/ppt/notesMasters/notesMaster1.xml" Id="R8f0b259df1ac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d7d0da92b14b83" /><Relationship Type="http://schemas.openxmlformats.org/officeDocument/2006/relationships/notesMaster" Target="/ppt/notesMasters/notesMaster1.xml" Id="R9c176fdec171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1c3f2e66a343f5" /><Relationship Type="http://schemas.openxmlformats.org/officeDocument/2006/relationships/notesMaster" Target="/ppt/notesMasters/notesMaster1.xml" Id="R062a70f57f1244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8dc24ed2314806" /><Relationship Type="http://schemas.openxmlformats.org/officeDocument/2006/relationships/notesMaster" Target="/ppt/notesMasters/notesMaster1.xml" Id="R022816ade29b4b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c8ca3707384e24" /><Relationship Type="http://schemas.openxmlformats.org/officeDocument/2006/relationships/notesMaster" Target="/ppt/notesMasters/notesMaster1.xml" Id="Rd62d14698c7643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f9eab8e5824da1" /><Relationship Type="http://schemas.openxmlformats.org/officeDocument/2006/relationships/notesMaster" Target="/ppt/notesMasters/notesMaster1.xml" Id="Rc1ecd2e49a5448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ba7e44880b40d1" /><Relationship Type="http://schemas.openxmlformats.org/officeDocument/2006/relationships/notesMaster" Target="/ppt/notesMasters/notesMaster1.xml" Id="R2ca7213ab94340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420e8cb2ff4f34" /><Relationship Type="http://schemas.openxmlformats.org/officeDocument/2006/relationships/notesMaster" Target="/ppt/notesMasters/notesMaster1.xml" Id="R0fc4cff3d1f94e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1a3e552f1043e7" /><Relationship Type="http://schemas.openxmlformats.org/officeDocument/2006/relationships/notesMaster" Target="/ppt/notesMasters/notesMaster1.xml" Id="Rcb715a56ed384f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11d1358e32461e" /><Relationship Type="http://schemas.openxmlformats.org/officeDocument/2006/relationships/notesMaster" Target="/ppt/notesMasters/notesMaster1.xml" Id="R1d742c2d681d4a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3eebbe878a4f15" /><Relationship Type="http://schemas.openxmlformats.org/officeDocument/2006/relationships/notesMaster" Target="/ppt/notesMasters/notesMaster1.xml" Id="R4b8eaab667cd4c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c2d2f0fc8a4d48" /><Relationship Type="http://schemas.openxmlformats.org/officeDocument/2006/relationships/notesMaster" Target="/ppt/notesMasters/notesMaster1.xml" Id="R585756042cf341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ea3bc94124484c" /><Relationship Type="http://schemas.openxmlformats.org/officeDocument/2006/relationships/notesMaster" Target="/ppt/notesMasters/notesMaster1.xml" Id="R4d5d8278121540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85bbc672414725" /><Relationship Type="http://schemas.openxmlformats.org/officeDocument/2006/relationships/notesMaster" Target="/ppt/notesMasters/notesMaster1.xml" Id="R0ba34beea3644a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1474af236d45bf" /><Relationship Type="http://schemas.openxmlformats.org/officeDocument/2006/relationships/notesMaster" Target="/ppt/notesMasters/notesMaster1.xml" Id="Rcd9d4bf9ab7647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4b65c6fdb34e4b" /><Relationship Type="http://schemas.openxmlformats.org/officeDocument/2006/relationships/notesMaster" Target="/ppt/notesMasters/notesMaster1.xml" Id="Re9f434ee7b164e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82fe42daba4132" /><Relationship Type="http://schemas.openxmlformats.org/officeDocument/2006/relationships/notesMaster" Target="/ppt/notesMasters/notesMaster1.xml" Id="R20aa047530b2441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89ccc8554e42de" /><Relationship Type="http://schemas.openxmlformats.org/officeDocument/2006/relationships/notesMaster" Target="/ppt/notesMasters/notesMaster1.xml" Id="R2e5878d61dfe43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94a1a4b86440ed" /><Relationship Type="http://schemas.openxmlformats.org/officeDocument/2006/relationships/notesMaster" Target="/ppt/notesMasters/notesMaster1.xml" Id="Rf87d37e808974a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4613ea193b4b12" /><Relationship Type="http://schemas.openxmlformats.org/officeDocument/2006/relationships/notesMaster" Target="/ppt/notesMasters/notesMaster1.xml" Id="R6e21f48b797840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d1af117f7b46ec" /><Relationship Type="http://schemas.openxmlformats.org/officeDocument/2006/relationships/notesMaster" Target="/ppt/notesMasters/notesMaster1.xml" Id="Rf34259b56cfb47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63faff378f4465" /><Relationship Type="http://schemas.openxmlformats.org/officeDocument/2006/relationships/notesMaster" Target="/ppt/notesMasters/notesMaster1.xml" Id="R067da0d0be624b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89a3603b9e4d9f" /><Relationship Type="http://schemas.openxmlformats.org/officeDocument/2006/relationships/notesMaster" Target="/ppt/notesMasters/notesMaster1.xml" Id="Rc6d5ff4d264d40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033b55bf7204f98" /><Relationship Type="http://schemas.openxmlformats.org/officeDocument/2006/relationships/notesMaster" Target="/ppt/notesMasters/notesMaster1.xml" Id="R50398bade5f24cb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b3f7621aad4218" /><Relationship Type="http://schemas.openxmlformats.org/officeDocument/2006/relationships/notesMaster" Target="/ppt/notesMasters/notesMaster1.xml" Id="Rc60c280a24224ba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1af66a5c9c349e8" /><Relationship Type="http://schemas.openxmlformats.org/officeDocument/2006/relationships/notesMaster" Target="/ppt/notesMasters/notesMaster1.xml" Id="R8fd812e3c5a848a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568f6419d5a4525" /><Relationship Type="http://schemas.openxmlformats.org/officeDocument/2006/relationships/notesMaster" Target="/ppt/notesMasters/notesMaster1.xml" Id="R52ff6d0c01134c3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5459caa2ccd4607" /><Relationship Type="http://schemas.openxmlformats.org/officeDocument/2006/relationships/notesMaster" Target="/ppt/notesMasters/notesMaster1.xml" Id="Rc6aef7baa70342b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b4d319df774048" /><Relationship Type="http://schemas.openxmlformats.org/officeDocument/2006/relationships/notesMaster" Target="/ppt/notesMasters/notesMaster1.xml" Id="Rac7b06b217684f5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8145e1273f4525" /><Relationship Type="http://schemas.openxmlformats.org/officeDocument/2006/relationships/notesMaster" Target="/ppt/notesMasters/notesMaster1.xml" Id="R71bbfbb61bc74b7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125ee4333f4a21" /><Relationship Type="http://schemas.openxmlformats.org/officeDocument/2006/relationships/notesMaster" Target="/ppt/notesMasters/notesMaster1.xml" Id="R0ba79327cd294af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de8ab4f1b2426c" /><Relationship Type="http://schemas.openxmlformats.org/officeDocument/2006/relationships/notesMaster" Target="/ppt/notesMasters/notesMaster1.xml" Id="R21d0f6a51d7c48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d52a2c4800f4c0a" /><Relationship Type="http://schemas.openxmlformats.org/officeDocument/2006/relationships/notesMaster" Target="/ppt/notesMasters/notesMaster1.xml" Id="R1c5af05324c6419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b29937ea6f4448a" /><Relationship Type="http://schemas.openxmlformats.org/officeDocument/2006/relationships/notesMaster" Target="/ppt/notesMasters/notesMaster1.xml" Id="Rf0fd79b23aad4aa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db7429907074e18" /><Relationship Type="http://schemas.openxmlformats.org/officeDocument/2006/relationships/notesMaster" Target="/ppt/notesMasters/notesMaster1.xml" Id="Rf80265d722d547a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fac76d4fc724822" /><Relationship Type="http://schemas.openxmlformats.org/officeDocument/2006/relationships/notesMaster" Target="/ppt/notesMasters/notesMaster1.xml" Id="R1555a3000d35474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226f0132ce14fab" /><Relationship Type="http://schemas.openxmlformats.org/officeDocument/2006/relationships/notesMaster" Target="/ppt/notesMasters/notesMaster1.xml" Id="R06b730f8f3bf4a6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23e4f7af07f4b00" /><Relationship Type="http://schemas.openxmlformats.org/officeDocument/2006/relationships/notesMaster" Target="/ppt/notesMasters/notesMaster1.xml" Id="Rab5a547b1157437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17437cb5e3b427f" /><Relationship Type="http://schemas.openxmlformats.org/officeDocument/2006/relationships/notesMaster" Target="/ppt/notesMasters/notesMaster1.xml" Id="Rafa6686fece74b3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d904a3a9e74648" /><Relationship Type="http://schemas.openxmlformats.org/officeDocument/2006/relationships/notesMaster" Target="/ppt/notesMasters/notesMaster1.xml" Id="R579c4d6604574f9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3da27b17cda4f01" /><Relationship Type="http://schemas.openxmlformats.org/officeDocument/2006/relationships/notesMaster" Target="/ppt/notesMasters/notesMaster1.xml" Id="Rb4b89e838e8a4cc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04515d42cd94b7f" /><Relationship Type="http://schemas.openxmlformats.org/officeDocument/2006/relationships/notesMaster" Target="/ppt/notesMasters/notesMaster1.xml" Id="Ra76013627576487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3a9ef036beb4721" /><Relationship Type="http://schemas.openxmlformats.org/officeDocument/2006/relationships/notesMaster" Target="/ppt/notesMasters/notesMaster1.xml" Id="R4a64db592b7b4b4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d29bda49ae5422b" /><Relationship Type="http://schemas.openxmlformats.org/officeDocument/2006/relationships/notesMaster" Target="/ppt/notesMasters/notesMaster1.xml" Id="Rb5488030564740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literature review of game theory for poisoning attacks in federated learning. This deck introduces concepts before analyzing five representative papers.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synthesized from Sagduyu, Erpek, and Shi (2023), arXiv:2312.17164; Jia et al. (2023), FedGame, NeurIPS 2023; Li et al. (2024), arXiv:2410.17431.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for the literature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game-theory framing. Application-specific examples follow the reviewed FL papers.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glossary used throughout the deck. Paper-specific instantiations are cited in the later case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Applied examples: Sagduyu et al. use attacker poisoning probabilities and server admission probabilities. FedGame uses attacker poisoning ratio and trigger; Meta Stackelberg uses defense and attack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FedGame explicitly represents this trade-off in its attacker objective with a genuine score term and a poisoning-ratio term. Jia et al. (2023), Eq.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 define attack type using objective, method, and configuration, then model a domain of types with a prior distribution Q. arXiv:2410.17431, Sec.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analyze Nash equilibrium. Li et al. define a Bayesian Stackelberg Markov game with one state transition per FL 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representations connected to reviewed papers. The Shapley row is used only as a contribution-valuation lens, not an attacker-defender 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Terminology tied to Sagduyu et al. (Nash), Jia et al. (minimax), and Li et al. (Bayesian and meta-Stackelberg).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FedGame defines TA and ASR explicitly and reports genuine-score computation cost. Meta Stackelberg reports clean global accuracy and backdoor accuracy. Sagduyu et al. use classification accuracy and utilities.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Sagduyu et al. (2023), Jia et al. (2023), Li et al. (2024), Behera and Chakraborty (2024), Dong et al. (2026).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Sagduyu, Erpek, and Shi, Securing NextG Systems against Poisoning Attacks on Federated Learning: A Game-Theoretic Solution, arXiv:2312.17164, Secs. II-III.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Secs. IV-V, Eq. 1 and the definitions of p, q, i, m, and U_{k|i}.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Eqs. 20-21. The attacker utility includes the negative FL reward and poisoning cost; the defender utility includes FL reward and admission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Secs. IV-V, Eqs. 5-19 and Eqs. 22-24. KKT conditions are used for the two-client constrained probabilities; best responses define the n-client Nash 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Figs. 4-6 and Sec. V. The final sentence is an interpretation of the paper's deliberately compact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al., FedGame: A Game-Theoretic Defense against Backdoor Attacks in Federated Learning, NeurIPS 2023, Abstract and Sec.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4.1, Eqs. 1-2. The auxiliary model construction and use of trigger reverse engineering are detailed in Sec. 4.2.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4.1, Eqs. 3-5. The attacker objective explicitly includes the trade-off term lambda sum_i r_i^t.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4.2. The paper uses Neural Cleanse in its experiments, but the framework is stated to be compatible with other trigger reverse-engineering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4.3. This is an approximate attacker solution because the attacker does not observe the defender's inferred trigger or scores for benign clients.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Secs. 6.1-6.3. Metrics are defined in Sec. 6.1. Computation cost is reported in Sec. 6.2. Do not generalize the measured runtime beyond the stated hardware and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al., Meta Stackelberg Game: Robust Federated Learning against Adaptive and Mixed Poisoning Attacks, arXiv:2410.17431, Fig. 1 and Sec.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II-A(d), definition of attack type and attack domain.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II-A, Bayesian Stackelberg Markov game tuple and bullet definitions. The paper writes the tuple as &lt;S, A_D, A_ξ, T, r, gamma, H&gt;.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III-B, Definitions 1 and 2. The distinction between BSE and meta-SE is the online adaptation of the defender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III-C and Algorithm 1. The paper calls its two-timescale policy-gradient method meta-Stackelberg learning and describes a Reptile meta-SL variant.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IV and Table 2. The practical boundary follows the paper's explicit white-box, gray-box, and black-box evaluations and online reward-estimation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Chakraborty, pFedGame - Decentralized Federated Learning using Game Theory in Dynamic Topology, arXiv:2410.04058, Abstract and Secs. I-III.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Sec. III-A, Eq. 1. H is an accuracy function, M(c) is peer c's model, and D(x) is node x's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Sec. III-B, Eqs. 3-4. The paper's stated terminology is 'two player constant sum cooperative game.'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Algorithm 1 and Sec. III-C. Parameters delta, beta, and r control the local weight 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Sec. IV and Tables II-III. The interpretation distinguishes pFedGame's aggregation objective from adversarial attack-defense games.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al., FORCE: Byzantine-Resilient Decentralized Federated Learning via Game-Theoretic Contribution Aggregation, IEEE TIFS 21 (2026), DOI:10.1109/TIFS.2026.3674690. Public abstract and publication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Shapley-value intuition. FORCE-specific claim derives from Dong et al. (2026) public abstract, DOI:10.1109/TIFS.2026.3674690.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 (2026), public abstract via IEEE-linked publication record. This slide limits claims to the published abstract description; it does not infer undisclosed algorithmic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 (2026), public abstract. The abstract explicitly states that FORCE- approximates Shapley computation to lower overhead as neighboring clients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 (2026), public abstract and bibliographic record. The boundary is stated explicitly to prevent unsupported reconstruction of the closed full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based on the methods described in the cited papers. FORCE details remain restricted to public abstract-level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based on the reviewed papers. It avoids treating all uses of game theory in FL and DFL as the same modeling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Methodological checklist synthesized for literature review. It is used to compare the case studies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of the reviewed literature. This literature review intentionally does not select a final thesis formulation.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Bibliographic references. The FORCE paper is included from public bibliographic metadata and abstract; confirm full-text details before formal citation or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da8c47d0f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afed8fc92b4b82" /><Relationship Type="http://schemas.openxmlformats.org/officeDocument/2006/relationships/slideLayout" Target="/ppt/slideLayouts/slideLayout1.xml" Id="R8a2367b924b946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367b924b946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f8e934e5047ea" /><Relationship Type="http://schemas.openxmlformats.org/officeDocument/2006/relationships/notesSlide" Target="/ppt/notesSlides/notesSlide1.xml" Id="R5e16262e37ba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39462f5c34db2" /><Relationship Type="http://schemas.openxmlformats.org/officeDocument/2006/relationships/notesSlide" Target="/ppt/notesSlides/notesSlide2.xml" Id="Rc90e7857d96148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e1bb2fc944963" /><Relationship Type="http://schemas.openxmlformats.org/officeDocument/2006/relationships/notesSlide" Target="/ppt/notesSlides/notesSlide3.xml" Id="R9046390ff1c74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13c6b2fde4f3d" /><Relationship Type="http://schemas.openxmlformats.org/officeDocument/2006/relationships/notesSlide" Target="/ppt/notesSlides/notesSlide4.xml" Id="R8facde4aea7d49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a1480a7874ed9" /><Relationship Type="http://schemas.openxmlformats.org/officeDocument/2006/relationships/notesSlide" Target="/ppt/notesSlides/notesSlide5.xml" Id="Rba9b7948b661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18973f5e24829" /><Relationship Type="http://schemas.openxmlformats.org/officeDocument/2006/relationships/notesSlide" Target="/ppt/notesSlides/notesSlide6.xml" Id="R57a8949b791546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7ac67fc4a466c" /><Relationship Type="http://schemas.openxmlformats.org/officeDocument/2006/relationships/notesSlide" Target="/ppt/notesSlides/notesSlide7.xml" Id="R3dc8f538b84744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84f2396ce472a" /><Relationship Type="http://schemas.openxmlformats.org/officeDocument/2006/relationships/notesSlide" Target="/ppt/notesSlides/notesSlide8.xml" Id="R6407228baa2f4f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0b6f38a0e489a" /><Relationship Type="http://schemas.openxmlformats.org/officeDocument/2006/relationships/notesSlide" Target="/ppt/notesSlides/notesSlide9.xml" Id="Re0d6840446fa42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9093f1eb7417d" /><Relationship Type="http://schemas.openxmlformats.org/officeDocument/2006/relationships/notesSlide" Target="/ppt/notesSlides/notesSlide10.xml" Id="R0ed7bcab4dec42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c9ff28add4fb5" /><Relationship Type="http://schemas.openxmlformats.org/officeDocument/2006/relationships/notesSlide" Target="/ppt/notesSlides/notesSlide11.xml" Id="Ra8dbbbfe2f8847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2ea577e604193" /><Relationship Type="http://schemas.openxmlformats.org/officeDocument/2006/relationships/notesSlide" Target="/ppt/notesSlides/notesSlide12.xml" Id="R16b41392c6e74d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ef7a8899c429f" /><Relationship Type="http://schemas.openxmlformats.org/officeDocument/2006/relationships/notesSlide" Target="/ppt/notesSlides/notesSlide13.xml" Id="R3d5b6f7ae5d146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635f1121c426d" /><Relationship Type="http://schemas.openxmlformats.org/officeDocument/2006/relationships/notesSlide" Target="/ppt/notesSlides/notesSlide14.xml" Id="R17d92b2a310748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027d651514b91" /><Relationship Type="http://schemas.openxmlformats.org/officeDocument/2006/relationships/notesSlide" Target="/ppt/notesSlides/notesSlide15.xml" Id="R7e48f1d5b62147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d3290a024089" /><Relationship Type="http://schemas.openxmlformats.org/officeDocument/2006/relationships/notesSlide" Target="/ppt/notesSlides/notesSlide16.xml" Id="R8aa27042842f44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a077042e949bf" /><Relationship Type="http://schemas.openxmlformats.org/officeDocument/2006/relationships/notesSlide" Target="/ppt/notesSlides/notesSlide17.xml" Id="R9024b27576fc48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b01d0e4f2458d" /><Relationship Type="http://schemas.openxmlformats.org/officeDocument/2006/relationships/notesSlide" Target="/ppt/notesSlides/notesSlide18.xml" Id="Rdd3e796fed0747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7c7a745b64872" /><Relationship Type="http://schemas.openxmlformats.org/officeDocument/2006/relationships/notesSlide" Target="/ppt/notesSlides/notesSlide19.xml" Id="Rbddfb2f48fb842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ea7b6d9e84a82" /><Relationship Type="http://schemas.openxmlformats.org/officeDocument/2006/relationships/notesSlide" Target="/ppt/notesSlides/notesSlide20.xml" Id="Rfe757c3f4fcc4f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18086596f4097" /><Relationship Type="http://schemas.openxmlformats.org/officeDocument/2006/relationships/notesSlide" Target="/ppt/notesSlides/notesSlide21.xml" Id="R6e0f5060c15f41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0d7c83a5c4c36" /><Relationship Type="http://schemas.openxmlformats.org/officeDocument/2006/relationships/notesSlide" Target="/ppt/notesSlides/notesSlide22.xml" Id="Reb4bf6c2322243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ef19650ac4ca8" /><Relationship Type="http://schemas.openxmlformats.org/officeDocument/2006/relationships/notesSlide" Target="/ppt/notesSlides/notesSlide23.xml" Id="Re27f2ecb45e648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27fe357e84939" /><Relationship Type="http://schemas.openxmlformats.org/officeDocument/2006/relationships/notesSlide" Target="/ppt/notesSlides/notesSlide24.xml" Id="R45325285f05b4b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252ba67d248ea" /><Relationship Type="http://schemas.openxmlformats.org/officeDocument/2006/relationships/notesSlide" Target="/ppt/notesSlides/notesSlide25.xml" Id="R5c0d136596ca41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9387f33a546e0" /><Relationship Type="http://schemas.openxmlformats.org/officeDocument/2006/relationships/notesSlide" Target="/ppt/notesSlides/notesSlide26.xml" Id="R359d47750f9845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bcfce9df4432b" /><Relationship Type="http://schemas.openxmlformats.org/officeDocument/2006/relationships/notesSlide" Target="/ppt/notesSlides/notesSlide27.xml" Id="R4770440f022547f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5b5ebe9c7440b" /><Relationship Type="http://schemas.openxmlformats.org/officeDocument/2006/relationships/notesSlide" Target="/ppt/notesSlides/notesSlide28.xml" Id="R8bd95ce47d1645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49ac4100a45ee" /><Relationship Type="http://schemas.openxmlformats.org/officeDocument/2006/relationships/notesSlide" Target="/ppt/notesSlides/notesSlide29.xml" Id="Rfbaff82f01b64c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3029e65874afa" /><Relationship Type="http://schemas.openxmlformats.org/officeDocument/2006/relationships/notesSlide" Target="/ppt/notesSlides/notesSlide30.xml" Id="R916992a620bc4f6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e3aaf8e0440e6" /><Relationship Type="http://schemas.openxmlformats.org/officeDocument/2006/relationships/notesSlide" Target="/ppt/notesSlides/notesSlide31.xml" Id="Rb0a35eb7188849a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8038cefb34716" /><Relationship Type="http://schemas.openxmlformats.org/officeDocument/2006/relationships/notesSlide" Target="/ppt/notesSlides/notesSlide32.xml" Id="R1a7e910c92734b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4c605f3c44025" /><Relationship Type="http://schemas.openxmlformats.org/officeDocument/2006/relationships/notesSlide" Target="/ppt/notesSlides/notesSlide33.xml" Id="R604d4e0f78b74ae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ae15c363b4eed" /><Relationship Type="http://schemas.openxmlformats.org/officeDocument/2006/relationships/notesSlide" Target="/ppt/notesSlides/notesSlide34.xml" Id="R2fbee82fe229433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ba02082e6452f" /><Relationship Type="http://schemas.openxmlformats.org/officeDocument/2006/relationships/notesSlide" Target="/ppt/notesSlides/notesSlide35.xml" Id="R6d8712cbebca488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4bc81f6994b9f" /><Relationship Type="http://schemas.openxmlformats.org/officeDocument/2006/relationships/notesSlide" Target="/ppt/notesSlides/notesSlide36.xml" Id="R60375b7aab1f48b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8f42ebaed4cdb" /><Relationship Type="http://schemas.openxmlformats.org/officeDocument/2006/relationships/notesSlide" Target="/ppt/notesSlides/notesSlide37.xml" Id="Recf9630e4dfb4b9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3ff77b050442c" /><Relationship Type="http://schemas.openxmlformats.org/officeDocument/2006/relationships/notesSlide" Target="/ppt/notesSlides/notesSlide38.xml" Id="Rb8e8c6db845f415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f487bd76c455d" /><Relationship Type="http://schemas.openxmlformats.org/officeDocument/2006/relationships/notesSlide" Target="/ppt/notesSlides/notesSlide39.xml" Id="R942a744bb26e4e2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f75e2cbd840f1" /><Relationship Type="http://schemas.openxmlformats.org/officeDocument/2006/relationships/notesSlide" Target="/ppt/notesSlides/notesSlide40.xml" Id="Rbd38b7564af34d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36fd1236248e2" /><Relationship Type="http://schemas.openxmlformats.org/officeDocument/2006/relationships/notesSlide" Target="/ppt/notesSlides/notesSlide41.xml" Id="Reb2562b6000f400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d1a327df5456f" /><Relationship Type="http://schemas.openxmlformats.org/officeDocument/2006/relationships/notesSlide" Target="/ppt/notesSlides/notesSlide42.xml" Id="R92a85d247451427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fa56235d4274" /><Relationship Type="http://schemas.openxmlformats.org/officeDocument/2006/relationships/notesSlide" Target="/ppt/notesSlides/notesSlide43.xml" Id="Rddd333bca6cf4ce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eec230829466f" /><Relationship Type="http://schemas.openxmlformats.org/officeDocument/2006/relationships/notesSlide" Target="/ppt/notesSlides/notesSlide44.xml" Id="R61f80a8ad2ab4f6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b12e2a62442c1" /><Relationship Type="http://schemas.openxmlformats.org/officeDocument/2006/relationships/notesSlide" Target="/ppt/notesSlides/notesSlide45.xml" Id="Rc19cb4daa4a345d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51d26cb254fe4" /><Relationship Type="http://schemas.openxmlformats.org/officeDocument/2006/relationships/notesSlide" Target="/ppt/notesSlides/notesSlide46.xml" Id="R4970d2c266b54b8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ee1fa68924acc" /><Relationship Type="http://schemas.openxmlformats.org/officeDocument/2006/relationships/notesSlide" Target="/ppt/notesSlides/notesSlide47.xml" Id="R86415ff8d6ca47c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789e0d86b4856" /><Relationship Type="http://schemas.openxmlformats.org/officeDocument/2006/relationships/notesSlide" Target="/ppt/notesSlides/notesSlide48.xml" Id="R1bf726722f93435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aaf1abf1e4242" /><Relationship Type="http://schemas.openxmlformats.org/officeDocument/2006/relationships/notesSlide" Target="/ppt/notesSlides/notesSlide49.xml" Id="R891289fc06d04b9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6a97d740049e4" /><Relationship Type="http://schemas.openxmlformats.org/officeDocument/2006/relationships/notesSlide" Target="/ppt/notesSlides/notesSlide50.xml" Id="R39fcc5c1ad8044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2AEC1-39B2-4F98-AF72-28E18626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6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0CD80-372C-4DF8-8B58-48803F3C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Game Theory for Modeling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Poisoning Attacks in Federated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0AAD2-3F61-4689-B4D8-1FD29407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1725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Concepts, game families, evaluation metrics, and detailed paper studies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F38F1-BB07-4BBC-B199-B824D31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AD0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B8CAD0"/>
                </a:solidFill>
                <a:latin typeface="Fira Sans"/>
                <a:ea typeface="Fira Sans"/>
                <a:cs typeface="Fira Sans"/>
              </a:rPr>
              <a:t>Literature review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62915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9765C-8722-4888-A8C5-F0030EA7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Strategic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EE952-B79A-45CA-8B58-DC41A281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BE2DC-2DD8-4DC8-B86A-6FE92E35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AD4D8-F55D-489E-A7E7-1F764EE9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Poisoning can involve deliberate adaptation: an attacker chooses how to harm learning while a defender chooses how to respond.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A973F-3093-4AE0-A3A9-E5B0544A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6F3F0-3D59-41F6-BCD5-98231FCE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DFDFA-2159-4F0F-BC8F-A08F2E2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Target, poisoning ratio, trigger, timing, or how closely a malicious update resembles a benign 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4B175-16F8-4C22-B13E-A0F4138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F8E3D-29D6-4357-B4CC-19F9185C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5790B-D0F8-4A96-BAC6-42EA9D9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Admission, weighting, filtering, robust aggregation, post-training repair, or local isolation.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BDD2E-F91F-4811-9350-8A36BA85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FAE49-ACE2-460D-A3BF-981B7DEC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Strategic interaction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3DB3E-2C49-41EC-BDB3-1C799BE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Each side anticipates how the other side may react. The payoff therefore depends on both decisions.</a:t>
            </a:r>
          </a:p>
        </p:txBody>
      </p:sp>
    </p:spTree>
    <p:extLst>
      <p:ext uri="{BB962C8B-B14F-4D97-AF65-F5344CB8AC3E}">
        <p14:creationId xmlns:p14="http://schemas.microsoft.com/office/powerpoint/2010/main" val="1829597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9B392-3718-45B6-BD5E-51DFBE4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Presentation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CF114-6245-4064-AF86-01EA3B2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0641E-B4B4-41B4-A155-080145D0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F5470-DA15-4FCA-B5F9-959FC02B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9300-E95C-448E-8045-564696D0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I. 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4C559-2395-4666-8EB9-6878DDF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Game-theory vocabulary, representations, equilibria, game families, and evaluation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7C64C-F28B-4F3E-BCA5-1E7D7B44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AE5E2-D923-41F8-AD1B-9F1BD5A0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II. Detailed case studies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4B5B0-DC59-4897-8D8D-81B5654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Five papers with their research question, strategic model, solution method, experimental evidence, and boundaries.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6C1CE-78AA-4184-9750-74C0BFC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B1896-A1BC-4368-BDC5-492F2B1A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III.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CA5EF-752D-4387-9D0A-6B23127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choices make the papers different, and which modeling ingredients matter for later research design.</a:t>
            </a:r>
          </a:p>
        </p:txBody>
      </p:sp>
    </p:spTree>
    <p:extLst>
      <p:ext uri="{BB962C8B-B14F-4D97-AF65-F5344CB8AC3E}">
        <p14:creationId xmlns:p14="http://schemas.microsoft.com/office/powerpoint/2010/main" val="650917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E1E31-E642-4A31-9E68-F4533455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game theory contributes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28822-41C7-4A8C-971B-65865E52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480DF-7200-40E4-AA54-FB80E2A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3ABF3-2B5E-4B51-ABD7-ED4CF81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theory studies decision-making when the outcome for one actor depends on actions chosen by other actors.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32BEC-7156-4B28-BDF9-F5AD4401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DESCRIPTIVE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96A86-FDF9-4B4F-9732-067A30CA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Explain what rational actors may do under stated incentives and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77788-4A3D-4505-AFE7-C77485B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ANALYTICAL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BA203-4401-4B27-8AEC-3F093E8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Derive equilibrium, best response, or a bound that connects choices with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D0656-D0C6-434F-B179-7029B7C1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DESIGN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8D675-B276-4D8D-91DA-CA83B064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4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Construct a defense policy that accounts for an adaptive attacker instead of a fixed attack.</a:t>
            </a:r>
          </a:p>
        </p:txBody>
      </p:sp>
    </p:spTree>
    <p:extLst>
      <p:ext uri="{BB962C8B-B14F-4D97-AF65-F5344CB8AC3E}">
        <p14:creationId xmlns:p14="http://schemas.microsoft.com/office/powerpoint/2010/main" val="1890986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3FD11-8C49-4AF1-8012-D44BA5B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Modeling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4624-7ABA-4A7E-899E-60125A64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40BEE-35E8-4395-97B3-95861453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27564"/>
                <a:gridCol w="3657600"/>
                <a:gridCol w="4987636"/>
              </a:tblGrid>
              <a:tr h="6504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Poisoning example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Entity that chooses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Attacker, server, receiving node, or client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Feasible choice at a decision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Poison ratio; accept, reject, reweight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Strategy / policy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Rule mapping information to an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Score an update and select aggregation weight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Utility / payoff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Numerical preference over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Clean accuracy, ASR, effort, false-positive cost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Private characteristic that may alter behavior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 family, target, attacker knowledge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Information that evolves across rounds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Current global model and defense history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598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2ACC4-F5A3-4F51-8F05-537BD09C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Players, actions, and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F4113-C43E-485A-81E1-95EFB66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61748-01EF-4F0A-BF13-529B8CCD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994A-AC6D-4E10-BBF8-2A171839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7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game model starts with a precise question: who can choose what, at which time, based on which observations?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E5719-4E08-4C32-9818-794D603A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PLAYERS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C00D0-B671-4981-BCE7-F07BDA7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7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Defender and attacker in adversarial FL; local model and aggregate model in pFedGame.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2573C-7A31-480A-BA1F-43630369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ACTION 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6FED8-22C9-4608-9774-F687021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81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6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feasible decision variables, such as a poisoning ratio r or an aggregation rule Aggr.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03B52-2DEC-4C70-9120-F868AF11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7808B-42F6-489C-88BE-DA3F2F12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108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complete contingent rule. In a repeated setting, it maps observed history or state to an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C7AB3-ED0A-4C1B-B995-BB6E5193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paper can call an algorithm “game-theoretic” only after these decision variables and their connection to outcomes are made explicit.</a:t>
            </a:r>
          </a:p>
        </p:txBody>
      </p:sp>
    </p:spTree>
    <p:extLst>
      <p:ext uri="{BB962C8B-B14F-4D97-AF65-F5344CB8AC3E}">
        <p14:creationId xmlns:p14="http://schemas.microsoft.com/office/powerpoint/2010/main" val="2044322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6F9E2-799E-4110-B1EF-D990C32E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Utility functions and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8A5CD-46E3-4CF7-839E-CA82E507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FFF31-8030-4F53-AD04-DF09406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9A4DF-A16F-4311-BAFB-174F546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The utility function turns a qualitative objective into a quantity that a player seeks to maximize or minimize.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12FD9-A293-40FC-A69C-F1731A8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490BA-E6E0-4254-BA98-664679A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utility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35517-02D7-4173-B693-8447B39D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Usually rewards clean-task performance and penalizes poisoning impact, false positives, communication, or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B0241-D263-4B59-BCC7-850566C8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48EAE-5880-475D-84F9-4EB012E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utility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9F298-AE23-4EBC-9E82-C74C247D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Usually rewards damage or backdoor success and can penalize attack effort, detection, or isolation.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DD111-48F1-4D08-B83C-9E0E3856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Example trade-off: increasing a backdoor poisoning ratio can increase attack strength while making the local model easier to identify.</a:t>
            </a:r>
          </a:p>
        </p:txBody>
      </p:sp>
    </p:spTree>
    <p:extLst>
      <p:ext uri="{BB962C8B-B14F-4D97-AF65-F5344CB8AC3E}">
        <p14:creationId xmlns:p14="http://schemas.microsoft.com/office/powerpoint/2010/main" val="870192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43A3-87E0-4707-8033-7E47D09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Information, beliefs, and hidden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99F55-92EC-4D03-BD6F-7DCE4BB7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04C75-6437-4B30-B649-FA294C5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3965-5F35-4DB7-BAAD-53233A6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0BDE1-1952-457C-B7D5-4360CC7D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335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Complete information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A6E20-75F2-4C7D-AA3F-70E1C01C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Both sides know the payoff-relevant model and action sets. This assumption simplifies analysis but rarely holds fully in FL.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5783A-EC81-4DEE-BC1C-23D623C6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7197F-99B7-4B3B-82BD-AFB284C2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Incomplete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4CC80-A2E6-460D-BB5B-844FA08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defender may not know client identity, attacker objective, poison ratio, trigger, or attack family.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CF947-C97C-40AD-8BCD-27F5CC0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4005C-42B4-41D7-8B44-BED581C7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Belief over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E3078-ABB9-4402-82CA-33B21279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963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Bayesian model represents uncertainty with a distribution over possible attacker types. New observations can guide adaptation.</a:t>
            </a:r>
          </a:p>
        </p:txBody>
      </p:sp>
    </p:spTree>
    <p:extLst>
      <p:ext uri="{BB962C8B-B14F-4D97-AF65-F5344CB8AC3E}">
        <p14:creationId xmlns:p14="http://schemas.microsoft.com/office/powerpoint/2010/main" val="624881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BC43F-E759-4A36-AD46-3F19A71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Timing and state transitions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874D1-86D7-4744-BCCE-69038C4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6D12E-9929-49E0-A62B-EC47D01C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F94AD-4E29-4B22-8984-65D91FEC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One-shot and multi-round games answer different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E242D-03D9-4EB3-8091-D08D3E2C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2C21E-A19F-4B31-A4FD-F099714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Simultaneous move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CA430-6260-4F3C-A9BC-913C8149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Players choose without first observing the other current action. Nash equilibrium is a common solution concept.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F65C7-70A9-40EC-AD46-CB02727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D0647-A7B9-4DF2-B92F-DF9C2C51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Sequential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0E8E6-5810-46EA-B584-4A17709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leader selects a policy and a follower best-responds. Stackelberg modeling requires a justified order of moves.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B10DC-9634-4842-A70F-6667605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8B610-2DFB-4DC3-9D1B-DC02813F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Markov transition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3FFC3-9829-4C04-B0D8-3DDCD73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244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joint actions update a state, such as global parameters. Future payoffs then depend on the updated state.</a:t>
            </a:r>
          </a:p>
        </p:txBody>
      </p:sp>
    </p:spTree>
    <p:extLst>
      <p:ext uri="{BB962C8B-B14F-4D97-AF65-F5344CB8AC3E}">
        <p14:creationId xmlns:p14="http://schemas.microsoft.com/office/powerpoint/2010/main" val="12803363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85FA6-4B3D-4833-8BC3-2712C74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4F838-81B7-43DF-9BE3-43700FCB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91E8F-D244-4B82-A700-462A8EEF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0909"/>
                <a:gridCol w="3879273"/>
                <a:gridCol w="4322618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Representation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Core ingredients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Use in this review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Normal form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Players, action sets, payoffs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Compact attack-admission choices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Extensive form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Actions ordered in a decision tree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Leader-follower reasoning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Private types and beliefs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Unknown attacker objective or configuration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Markov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State, actions, transition, rewards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FL rounds and changing global model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Coalitional value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Value of subsets of contributors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contribution aggregation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120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36426-1427-4B88-A70E-48509BF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Equilibrium and solution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DDD06-F008-49F4-AA24-E2F8A18F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5F04E-70EF-4A6C-A13A-8DCE9BC0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92582"/>
                <a:gridCol w="4987636"/>
                <a:gridCol w="2992582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Question answered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Best response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What action maximizes a player utility against a fixed opponent action?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local optimal reaction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Nash equilibrium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Can any player improve alone?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No unilateral incentive to deviate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Stackelberg equilibrium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does a leader choose under uncertainty about follower type?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Leader anticipates type-specific best responses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Meta-Stackelberg equilibrium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should a leader prepare to adapt after observing an online trajectory?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Equilibrium over an initial policy plus adaptation rule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solution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a defender minimize an attacker-favorable objective?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Adversarial optimization for a zero-sum-like conflict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073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4D265-68AF-4806-9DEC-92D6A14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Evaluation metrics used in poisoning studies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D6916-07A5-4385-A247-736C804A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5C6DC-23C1-4D31-AF27-51B9FD0D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92582"/>
                <a:gridCol w="4765964"/>
                <a:gridCol w="3214255"/>
              </a:tblGrid>
              <a:tr h="6504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Definition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Test accuracy (TA)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Fraction of clean test inputs classified correctly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Clean utility of the learned model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 success rate (ASR)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Fraction of trigger inputs classified as attacker 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Backdoor effectiveness; lower is better for a defense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Loss / degradation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Clean or adversarial loss, depending on attack objective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Untargeted model-poisoning damage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Genuine / trust score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Per-client score used as an aggregation weight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Separates suspicious from benign client behavior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False-positive cost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Penalty for excluding or downweighting benign contributions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Defense fairness and utility trade-off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Overhead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Extra computation or communication per round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Deployability at scale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3678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01E70-BCE0-43FE-956E-0FECB17D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Literature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4A2FA-7B78-4129-B373-CCB2ABC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37C9A-6603-4206-98D9-C8A4E23C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14255"/>
                <a:gridCol w="4433455"/>
                <a:gridCol w="3325091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Game-theory mechanism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Primary question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Sagduyu et al.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Non-cooperative Nash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many clients to poison or admit?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FedGame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attack-defense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a server resist dynamic backdoors?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 Stackelberg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Stackelberg Markov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defense adapt to uncertain, mixed attacks?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pFedGame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Two-player constant-sum cooperative weighting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should a node mix its own and peer aggregate model?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FORCE (2026)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contribution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DFL identify Byzantine neighbors without gradient checks?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371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B899F-D129-4492-8D3C-DAFB15B2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1: Sagduyu, Erpek, and Shi (2023)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0BB45-CC72-4398-9CE5-A7EAC2CC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5F54-3818-4DBB-8EBF-E268158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37347-B060-4790-8E29-3186C54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0DAEC-D5BF-47B4-9109-D52BA3E1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Securing NextG Systems against Poisoning Attacks on Federated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F3F0E-BBCB-489B-BE1B-62719857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9366235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6AAFA-6866-4414-BBAB-DD35CC77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Sagduyu et al.: research question and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C9E54-25D2-40E4-A138-F285982C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1144B-D662-49C4-B116-0B7359D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37CC4-AF48-4ADA-B7AE-2C2C2479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A9EB8-5D8D-4DEA-A344-54FF359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BF875-159A-4B07-B451-46812B30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963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Federated signal classification in a NextG communication setting. Each client trains locally and sends model parameters to a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14C92-FC0A-4355-AAD8-617E9E31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7AD31-660E-4E31-97A4-A5E2C82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D3A9E-37BE-44A4-B6E0-BE17900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63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attacker chooses clients whose training labels are poisoned. The server may admit or reject clients from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01B12-9EF0-4BFF-8E72-974CD156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60295-0D46-42AA-948B-9CCDB1B6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Central 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210C0-C078-4ED0-9116-1645615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Rejecting clients can remove poisoned contributions, but rejecting too many also reduces useful data and carries admission cost.</a:t>
            </a:r>
          </a:p>
        </p:txBody>
      </p:sp>
    </p:spTree>
    <p:extLst>
      <p:ext uri="{BB962C8B-B14F-4D97-AF65-F5344CB8AC3E}">
        <p14:creationId xmlns:p14="http://schemas.microsoft.com/office/powerpoint/2010/main" val="1529847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55EA9-6F24-463C-9417-A7854FB3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Sagduyu et al.: game variables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4D1FB-3383-4DF7-A73C-72881AC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6AB2D-3D82-4F17-ADB7-EF3979C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2DBC2-7103-439C-B2AE-4FA3340D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ATTACKER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612F2-0810-4126-B65D-0F043CD1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 two clients, p_i is the probability of attacking client i. For n clients, m is the number of poisoned clients.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C191D-0D82-42A9-A6EC-0EF5DE1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DEFENDER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23243-F485-4CBE-9BD5-77F96AD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 two clients, q_i is the probability of admitting client i. For n clients, i is the number admitted.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8574-BCCD-4101-92BD-9189C07B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OUTCOME STATISTIC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9B310-6DA6-4EE3-9743-1FF0F92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U_{k|i} denotes classification accuracy when i clients are admitted and k of them are poisoned.</a:t>
            </a:r>
          </a:p>
        </p:txBody>
      </p:sp>
    </p:spTree>
    <p:extLst>
      <p:ext uri="{BB962C8B-B14F-4D97-AF65-F5344CB8AC3E}">
        <p14:creationId xmlns:p14="http://schemas.microsoft.com/office/powerpoint/2010/main" val="6617939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59D85-93F7-4E62-9D23-75D9F673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Sagduyu et al.: utility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37F9D-7626-41BF-A23E-4FE0F56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843C8-912F-4971-AD08-E51BD27F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840B0-0BE1-4FE8-845C-D207DB8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Both players value the resulting FL accuracy differently and pay their own action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4F952-E5E9-45F0-925E-0150A2A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F954F-D084-44D8-882A-F98AF327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4317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utility U_D(i,m)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87C41-7CC8-49BE-994B-F2B9C9D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Expected classification reward when i are admitted and some are poisoned, minus i c_D for admitting clients.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844AD-C59B-447C-B36D-05D522CB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F90B4-A257-43B9-90EE-D823204C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4317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utility U_A(i,m)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456ED-90F9-4228-8DFB-A7FB65F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67025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Negative of the FL reward, minus m c_A for poisoning clients. Lower accuracy increases attacker utility.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2D3F8-C393-4BF6-A341-9532BD0C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2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500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Interpretation: the model treats admission and poisoning as costly strategic choices, rather than purely technical filters.</a:t>
            </a:r>
          </a:p>
        </p:txBody>
      </p:sp>
    </p:spTree>
    <p:extLst>
      <p:ext uri="{BB962C8B-B14F-4D97-AF65-F5344CB8AC3E}">
        <p14:creationId xmlns:p14="http://schemas.microsoft.com/office/powerpoint/2010/main" val="4783702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EB3FE-B5B9-4340-BCF1-9A1BDAB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Sagduyu et al.: solving for Nash equilibrium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D114C-6557-41F2-85C1-9B64798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F8770-C6B4-4EF8-8DF1-2AAD12C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98EC-F668-4E01-9E80-2020FFC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B143D-5EBE-4379-97D6-0288477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Two-client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D5A29-C185-41F1-A9EE-D77E470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writes expected utilities over attack and admission probabilities. KKT conditions characterize constrained optima for p_i and q_i.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757BE-5969-4EC4-B533-1F9021BE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DFA52-BE64-46B8-B1A8-40BE07D7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623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n-client 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FC6FD-5D60-4709-9B7E-0810919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computes best responses B_A(i) = arg max_m U_A(i,m) and B_D(m) = arg max_i U_D(i,m).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D7128-E40C-47D2-8FDE-7E3E14F2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A1562-07A8-4351-99E1-A060732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Nash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D2EF4-3EDF-49D4-A22C-84B2960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equilibrium (i*,m*) lies in the intersection of the defender and attacker best-response correspondences.</a:t>
            </a:r>
          </a:p>
        </p:txBody>
      </p:sp>
    </p:spTree>
    <p:extLst>
      <p:ext uri="{BB962C8B-B14F-4D97-AF65-F5344CB8AC3E}">
        <p14:creationId xmlns:p14="http://schemas.microsoft.com/office/powerpoint/2010/main" val="18182102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EE169-0B1B-4E73-9451-A2E21B3B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Sagduyu et al.: findings and modeling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0821D-3AC3-4070-AAA9-9A590325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F86EC-A5BC-4002-8E6E-1A209484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AB304-55F1-4A75-B5F1-AD44952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DBC7C-2B7F-48D5-B0FF-26D46AE0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A611C-5C46-49CF-AFB3-1BE1FA7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As the total client count increases, their modeled defense utility per client decreases and attacker utility increases because poisoning opportunities grow.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132A1-97F4-46FB-9F7C-47EFBA2C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36CDA-B377-4902-96DB-53AE4152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051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Cost sensitivity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E5832-82FB-4172-8A99-7FB9064F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290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Raising attack and defense costs changes equilibrium strategies and utilities. The paper visualizes this dependence.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F2CD5-2EE6-41E6-9866-D94D4847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1A5FB-2268-409B-BEFA-6FB0D28E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Lesson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0FF01-BAA2-4420-9D1C-9AA1C8E4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simple Nash model can expose an incentive trade-off, but it abstracts away client identities, rich model updates, and time-varying attacker adaptation.</a:t>
            </a:r>
          </a:p>
        </p:txBody>
      </p:sp>
    </p:spTree>
    <p:extLst>
      <p:ext uri="{BB962C8B-B14F-4D97-AF65-F5344CB8AC3E}">
        <p14:creationId xmlns:p14="http://schemas.microsoft.com/office/powerpoint/2010/main" val="15479494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C8D59-682F-489A-A8EC-0A02FD50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2: FedGame (Jia et al., 2023)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44917-F711-434A-9A72-AD807721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58898-FC32-4465-B039-44468BFA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E67CF-3F07-48A8-A293-FB2FC00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CFB56-0DE2-4216-8DF8-A96B637F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minimax defense against dynamic backdoor attacks in centralized FL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73F65-8E8A-4DE4-8F0A-D034603F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6057408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BF4B1-F00C-48BA-80CF-FF41114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threat model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39BB1-6D6A-4075-8443-3629B6D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8B7CA-3F38-483B-B075-B88FEB84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A01A7-0EC3-46D2-BEC1-73399858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47C8B-91F7-4D98-B8DA-3D76E9F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11A1-E575-4B28-B455-427E75D5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Compromised FL clients inject a trigger and target label so trigger-embedded inputs are classified as the attacker's chosen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9A5A2-377E-4B7C-B99E-94035957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A9F5B-6415-45ED-9035-E9634DF0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Why a 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03E9E-7DF5-4D32-A2F9-399F560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attacker changes its poisoning ratio or trigger to remain effective; the server changes how it identifies and weights client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91164-6B7B-4987-8A48-8FC50E24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09F3D-8467-4769-8CB9-93776187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DC336-EEE4-4345-A31A-E7EAD23F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Maintain clean test accuracy while lowering attack success rate against dynamic backdoor behavior.</a:t>
            </a:r>
          </a:p>
        </p:txBody>
      </p:sp>
    </p:spTree>
    <p:extLst>
      <p:ext uri="{BB962C8B-B14F-4D97-AF65-F5344CB8AC3E}">
        <p14:creationId xmlns:p14="http://schemas.microsoft.com/office/powerpoint/2010/main" val="19656617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04D0-F75E-4EF3-BBEC-652395DD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genuine score and weighted aggregation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84F6E-CAD0-4AF9-9DC8-CFF3E898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F277D-CA44-48CA-833F-175A89C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6FD74-E0C2-4CC4-9056-47282FD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 assigns each client a genuine score p_i^t and uses it as a weight in the global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FE73E-040F-4E8F-B99E-9440100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REVERSE-ENGINEER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A153B-1E36-4DF3-9CB8-07315A5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7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Build an auxiliary global model from all local updates, then infer a candidate trigger and target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16D21-9590-4DAE-AB82-4EB4E65B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BFCC5-40A9-46FB-9E1F-8410FF1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7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 each local model, measure how often trigger-embedded clean inputs receive the inferred target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24260-2339-409B-879E-A1D3E77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AGGREGATE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7814A-61C1-4B0F-B948-7321C9D5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097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Lower p_i^t for suspicious behavior means a smaller contribution to the global model update.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B0058-6340-4E20-8BDB-CEC3812F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p_i^t = 1 - fraction of trigger-embedded server-clean inputs predicted as the inferred target class</a:t>
            </a:r>
          </a:p>
        </p:txBody>
      </p:sp>
    </p:spTree>
    <p:extLst>
      <p:ext uri="{BB962C8B-B14F-4D97-AF65-F5344CB8AC3E}">
        <p14:creationId xmlns:p14="http://schemas.microsoft.com/office/powerpoint/2010/main" val="18333456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4878C-4FED-46DE-BB9E-C5FB9AB8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the minimax formulation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2AF36-650A-409E-87DB-895C55A5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2A94D-5B1E-44D6-B5F2-EEAD8F2A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0E9D2-8220-45C3-B8E3-58F1528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6EEE0-C2B6-4931-997B-DA33DD2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730C0-9534-45D0-A8B9-CF8BEEA1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Reverse-engineered trigger δ_re and target class y_re. The defender seeks low scores for malicious clients and high scores for benign clients.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DF425-2DAE-48FA-8A11-104CC1D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C3132-87D9-4C08-A8C5-7B99D294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F4FB0-E29A-4C03-A0D4-831756B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Per-client backdoor ratio r_i^t and trigger δ. A larger r_i^t can improve attack success but tends to reduce genuine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F77EC-E52A-4086-8E63-BED3915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50E26-AD11-412C-9181-DE7EEFE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8FB9-8709-44DD-9B1B-28A6A15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writes a minimax objective that combines score separation with λ times the poisoning ratios of malicious clients.</a:t>
            </a:r>
          </a:p>
        </p:txBody>
      </p:sp>
    </p:spTree>
    <p:extLst>
      <p:ext uri="{BB962C8B-B14F-4D97-AF65-F5344CB8AC3E}">
        <p14:creationId xmlns:p14="http://schemas.microsoft.com/office/powerpoint/2010/main" val="116951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828A6-7A66-4331-85C6-973492BA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how the defender solves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A50FD-412C-4BA3-87AA-9B72735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75525-E2BF-481D-87B5-1D340EC0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1F927-689A-4ACD-9FD4-1909662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AB4F2-4CA4-4426-843F-54B66A3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Unknown malicious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A4E8C-6524-4E4E-8B76-800A6D5D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server does not know which selected clients are compromised, so it cannot directly solve the ideal objective.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401CC-FE29-484D-8DC0-03F6DCB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49BDA-1640-46FC-A9BD-5E87B74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Auxiliary global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83D29-1C69-42D5-A7F8-554AB02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Average all submitted updates into an auxiliary model. Under a backdoor, this model should still expose trigger-target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E6683-37FA-449B-90B2-87B5DA07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ED542-59AD-44A0-958A-25005F2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Operational defense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7A1EF-4329-4B5A-841C-4FB6DE73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Apply any compatible trigger reverse-engineering method to the auxiliary model, compute every genuine score, then aggregate with those weights.</a:t>
            </a:r>
          </a:p>
        </p:txBody>
      </p:sp>
    </p:spTree>
    <p:extLst>
      <p:ext uri="{BB962C8B-B14F-4D97-AF65-F5344CB8AC3E}">
        <p14:creationId xmlns:p14="http://schemas.microsoft.com/office/powerpoint/2010/main" val="13098468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EE4ED-407D-4DC3-BF22-0E32AECA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how the attacker approximates a best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65F90-F02D-48F2-9D9A-F14978E8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D4B13-C2E1-41AC-A9F1-9DE61F8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87ED3-CED6-48FB-BEA5-D81DAA11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74A11-EEB2-42D9-8201-3FDDA3A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Private validation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04832-60B3-4585-847C-25B20C4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malicious client reserves a portion of local data, for example 10%, to estimate whether its locally trained model still appears genuine.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7ACD4-BC1F-48FB-9778-01E6DCC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7DB8-6944-47D3-B22D-A27794F6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Approximate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D0E81-AE93-4A10-9D28-3F42DD84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Because the attacker does not know the defender's reverse-engineered trigger, it estimates a score using its own trigger and target.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EDFD1-7618-43E1-A35D-1763FDBB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2A7B8-84B5-464C-947C-35E3478D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Grid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2FEDD-4195-4200-BE29-9D195A29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14925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searches r_i^t for the largest estimated genuine score plus λr_i^t, then launches a standard backdoor attack with that ratio.</a:t>
            </a:r>
          </a:p>
        </p:txBody>
      </p:sp>
    </p:spTree>
    <p:extLst>
      <p:ext uri="{BB962C8B-B14F-4D97-AF65-F5344CB8AC3E}">
        <p14:creationId xmlns:p14="http://schemas.microsoft.com/office/powerpoint/2010/main" val="19536894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6086C-02AC-4D15-B3B8-2601604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evidence, metrics, and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5A7D5-20EB-4795-81D1-EE5FD75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BC563-B9BF-4BF2-B382-2157B79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112DA-BDB9-4767-9AF8-E51C20E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5A8A-0F57-4F39-95E1-59E8BBE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EDC11-9B71-4D33-823B-A35985E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Test accuracy measures clean performance; attack success rate measures the fraction of trigger inputs predicted as the target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B2D02-DC8A-41E2-B72F-2C04CEE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0B935-BB13-4416-8F1D-03324CC0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E04B5-D9F3-4A8B-8CBD-80D03C3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147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evaluates MNIST and CIFAR-10 under scaling, DBA, and Neurotoxin attacks, in IID and non-IID settings.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F76DD-28C1-4C75-8DDE-E33B736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8EB5E-7E24-408E-A979-72DC2604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limitation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635A2-BE9F-4815-B3CB-86382A4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defense needs a server clean dataset and trigger reverse engineering. The authors report an average 0.148 seconds per client score on one NVIDIA 2080 Ti GPU.</a:t>
            </a:r>
          </a:p>
        </p:txBody>
      </p:sp>
    </p:spTree>
    <p:extLst>
      <p:ext uri="{BB962C8B-B14F-4D97-AF65-F5344CB8AC3E}">
        <p14:creationId xmlns:p14="http://schemas.microsoft.com/office/powerpoint/2010/main" val="19389546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DD742-0ED7-4A8D-8B2F-24C698CB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3: Meta Stackelberg Game (Li et al., 2024)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D599D-51C7-48A2-8312-55D0E03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074EB-C46F-401D-83DC-60058A0F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0AF58-D3E4-4F50-98DD-65C1F03B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433A2-7D4F-455F-8FB9-2685C8C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Bayesian Stackelberg Markov game with meta-learned online adaptation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1B0A1-1B20-4C84-BF89-D17D7A8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6406234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D8003-5AAE-4F4E-A547-F6F00176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problem and two-stage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655D8-4B84-4A2C-9E49-A276CC8A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621A0-6E50-4BAC-BF50-BDE1DC71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A096F-EE69-442C-B2C2-B6CB551E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6C16D-4B2F-4396-A375-4DF417A5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B76C0-A98E-4843-9EE4-A65AD08D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FL defender faces unknown, adaptive, or mixed poisoning attacks. A fixed defense policy can fail when the attack type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B8CCF-71CF-46AA-A34C-331B2B6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3857D-1CA6-4D00-8638-753FB880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Pre-training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FF9A4-3220-475F-B94A-C9B6E36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Create a simulated environment from generated data and an attack domain, then train a defense meta-policy over attack types.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2EC6C-0D2C-489B-AA6C-9AAB5D9F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20E55-CB20-437D-9366-50A4EE7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Online adaptation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31606-E6F0-46D4-9BE5-ECB509A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Use observed trajectory data from real FL rounds to update the defense policy during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18766083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F1418-73A0-46C4-9401-A8B6780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attack types encode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08B35-3E8B-46E4-99FE-A1F2553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46A63-8B7B-40B5-A274-714178B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C38E4-0391-4012-94AF-23BBAA2E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OBJECTIVE Ω1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D05B9-18E3-4274-BA3F-DB14CD9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Untargeted or targeted attack objective.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8161A-FF25-4E3D-AB2F-1B82D61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METHOD Ω2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2AC99-E1A5-4404-8C80-94BA7A97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Algorithm that generates the attack policy, such as IPM or DBA.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C04E3-65A4-4930-953B-71FBF65A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CONFIGURATION Ω3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37D1A-0B0F-4112-999C-CCCBFEF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Hyperparameters, trigger, target label, and attacker knowledge.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421E8-1310-4D31-B868-CDB724EB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joint attack type ξ combines these elements across malicious clients. The defender models known types as an attack domain Ξ with a prior Q(Ξ).</a:t>
            </a:r>
          </a:p>
        </p:txBody>
      </p:sp>
    </p:spTree>
    <p:extLst>
      <p:ext uri="{BB962C8B-B14F-4D97-AF65-F5344CB8AC3E}">
        <p14:creationId xmlns:p14="http://schemas.microsoft.com/office/powerpoint/2010/main" val="5386027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F23B1-F92A-4645-B97C-675606E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Bayesian Stackelberg Markov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E8AFA-7110-4E97-A9CE-43BAB526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D8AEC-B9AB-47CD-BC98-79CBAC0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3A88F-93C3-4E1D-8FB7-5722BFE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STATE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053C2-2040-4EF6-88D9-72258E8A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Global model weights w_g^t at the current FL round.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302FB-1DD9-4D50-86C8-6F1BCF7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DEFENDER ACTION A_D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06B8E-2C3B-4F55-B7B1-E8BD511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71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7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combination of robust aggregation Aggr(.) and post-training defense h(.).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9417D-E692-442E-A5AE-E271BB4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ATTACKER ACTION A_Ξ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03640-8F07-424A-9CFC-1DB3CA0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Joint malicious model updates, selected according to attacker type 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16CBD-459D-45A3-B4EE-6EB47D6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TRANSITION 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8CBE5-2371-4530-84A1-A92F99A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aggregation rule converts current state and joint actions into the next global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2F81C-00FD-43A0-93B6-296B4D9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REWARDS R_D AND R_Ξ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15DAA-DEFA-4DD6-9472-8C5AA55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671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Defender seeks lower post-defense loss; attacker seeks the opposing attack objective.</a:t>
            </a:r>
          </a:p>
        </p:txBody>
      </p:sp>
    </p:spTree>
    <p:extLst>
      <p:ext uri="{BB962C8B-B14F-4D97-AF65-F5344CB8AC3E}">
        <p14:creationId xmlns:p14="http://schemas.microsoft.com/office/powerpoint/2010/main" val="19531969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4ABBF-6348-466B-BCD0-D816318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from BSE to meta-SE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408D9-E163-4465-A557-EFD4CEA0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6403-FB3A-4DD2-ACC1-D15318C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34708-712D-43D2-A525-2D44B0AC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6115D-BE5C-451F-AAFE-594B03C7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Bayesian Stackelberg 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35567-1214-427E-BDF9-75F09EF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639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defender chooses a policy that maximizes expected reward over attack types while each type chooses a best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7CC79-5A53-4EB9-9B57-435D3051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83E9E-ED57-4AF0-B790-CABE77E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Limitation of fixed BSE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362CF-72F1-4808-9361-2FBA16C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is ex-ante: the policy is chosen from the prior before the defender uses new online evidence about the hidden 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DC368-F3BD-4078-937C-F522DEB4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25B33-3C0A-4A65-9787-BD4DC77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Meta-Stackelberg equilibrium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22C88-E556-468F-BB98-3A077FE2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leader optimizes an initial policy together with a gradient-based adaptation step using a sampled online trajectory.</a:t>
            </a:r>
          </a:p>
        </p:txBody>
      </p:sp>
    </p:spTree>
    <p:extLst>
      <p:ext uri="{BB962C8B-B14F-4D97-AF65-F5344CB8AC3E}">
        <p14:creationId xmlns:p14="http://schemas.microsoft.com/office/powerpoint/2010/main" val="5007307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C5AEA-7DC8-469B-BE8E-0E6BE6BC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learning the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FFF17-CD62-4D6F-8F27-6BC2FCA1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02B1E-C245-471E-A2E4-D375AAC9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8EA58-2021-4341-964A-8A6A303C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31C0B-D292-4C51-870D-2AF9598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Nested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E1377-59EE-4166-9D35-D78F5DA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For sampled attack types, an inner loop learns an attacker best response while the current defender policy remains fixed.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C8AE7-2B9E-4F5F-A8BB-F94D1EF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F53AF-9E6F-4210-B472-02907C7A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Outer 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9B72F-18E8-4FA1-AE08-060D16EE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returned attacker policy helps estimate the defender value gradient and update the defense meta-policy.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EDB3B-02D1-4A9E-82BB-979A3937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DDA76-25CD-4BD0-850A-043D7879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First-order variant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C2F81-6856-4F22-BD90-D8A9EE4E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To avoid expensive Hessian estimation, the paper introduces Reptile meta-SL, a fully first-order pre-training method.</a:t>
            </a:r>
          </a:p>
        </p:txBody>
      </p:sp>
    </p:spTree>
    <p:extLst>
      <p:ext uri="{BB962C8B-B14F-4D97-AF65-F5344CB8AC3E}">
        <p14:creationId xmlns:p14="http://schemas.microsoft.com/office/powerpoint/2010/main" val="2006161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ECE64-FD3A-429A-846F-A8C18037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experiments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2C0DD-1A9E-4863-836D-2405DD23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5EB80-0DC2-4D30-8DE6-364EADE3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246D0-3D63-4867-8A44-D2AB2075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CA1A-490F-467C-AA0D-758F92C2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FABCC-0611-45B5-8A9D-2025B8D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Untargeted IPM, LMP, and RL attacks; targeted BFL, DBA, and BRL attacks; and mixed attacks are considered.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7E047-8F76-4D6C-B1F8-102667B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AA656-6564-4DAB-BC6F-7ED49F75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86541-3D93-4876-A2C5-3AB033A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reports global-model accuracy and backdoor accuracy. For its Table 2, accuracy is higher and backdoor accuracy is lower.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007AD-4820-4965-99B4-7700FB33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046AF-7DDD-46F0-BA50-0FA4AB6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69BE0-D0AE-4C24-8236-6E92B442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method assumes a simulator, an attack domain, and a way to estimate rewards online. White-box, gray-box, and black-box settings have different practical strength.</a:t>
            </a:r>
          </a:p>
        </p:txBody>
      </p:sp>
    </p:spTree>
    <p:extLst>
      <p:ext uri="{BB962C8B-B14F-4D97-AF65-F5344CB8AC3E}">
        <p14:creationId xmlns:p14="http://schemas.microsoft.com/office/powerpoint/2010/main" val="86009633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8644C-1AF0-4B2F-8ACB-AD06465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4: pFedGame (Behera and Chakraborty, 2024)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6A072-95DE-4195-9924-A86926E1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F1B10-088B-48D2-8F51-C81ACDC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7E361-1DC1-4DFF-AD05-32C60C6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6370-DDD6-4398-B192-63BBEBB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DFL game for peer selection and local aggregation 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FEE8B-1A66-4E8B-B77D-BD3F3173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072873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8FC08-7DA2-4F30-B0C5-5218C8C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purpose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EEED1-C592-481E-86AE-9479F37C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0942D-FE63-452D-8928-9437640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7082-A672-4455-AB51-0021FC9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214B7-864D-4155-BE2A-DB3F817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79C70-8DED-4079-8CCE-B3C509E7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Decentralized FL under dynamic topology. Nodes exchange models directly with immediate neighbors, without a central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F1347-83A2-4242-BE28-13CC87F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BA3E6-6BB2-4B4C-88F7-49AC222A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65F9B-F906-4722-A80A-28E23862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Improve a node's local model by selecting useful peers and choosing a weight between its own model and peer aggregate.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338F5-F540-40D6-8EC6-AC62DDF6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C9F9A-8F51-4C9F-B35B-BF08EE9D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Important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BDB1C-74AD-40A9-945C-382DF143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does not model a malicious attacker. It is relevant as a DFL game-theoretic aggregation paper, not an adversarial poisoning-defense game.</a:t>
            </a:r>
          </a:p>
        </p:txBody>
      </p:sp>
    </p:spTree>
    <p:extLst>
      <p:ext uri="{BB962C8B-B14F-4D97-AF65-F5344CB8AC3E}">
        <p14:creationId xmlns:p14="http://schemas.microsoft.com/office/powerpoint/2010/main" val="13376378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FE3DC-9401-4828-B03F-D56EAB41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peer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7CD6E-AD97-4C8B-8088-66DA3793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B5881-34B2-4264-A0E0-35E716D7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D41A5-CD58-4408-BDD3-3A765519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72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node x selects neighbor c when the local validation accuracy of c's model meets a threshold 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0E470-4D60-4976-AC46-ADC8DAD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CANDIDATE SET C(X)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7EEC-F815-41A7-A67C-72CAC8B0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Immediate neighbors connected to x in the current dynamic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AD0B7-B177-4989-8563-E6C3771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SELECTION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76C10-D5C2-47AF-9070-1C99946A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H(M(c), D(x)) ≥ θ: evaluate peer c's model M(c) on x's local data D(x).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CCB12-34C3-49F0-A00A-1467049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2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8048B-3609-4F8C-B5D4-E8252926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Aggregate only models from selected peers, then compare this peer aggregate with x's own model.</a:t>
            </a:r>
          </a:p>
        </p:txBody>
      </p:sp>
    </p:spTree>
    <p:extLst>
      <p:ext uri="{BB962C8B-B14F-4D97-AF65-F5344CB8AC3E}">
        <p14:creationId xmlns:p14="http://schemas.microsoft.com/office/powerpoint/2010/main" val="45221135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9123C-4088-4BA2-B903-0320FC6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two-player aggregation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F457C-63EB-4FD3-81B6-21B199B3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83CA7-20AF-4CA7-812E-06E1F5A1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AB0AD-7CF7-45AF-8352-A07C44E3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B22BF-A45A-4952-B36C-6730B86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BB0B8-2DED-4452-AAB2-EEA88389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Player 1 is the node's own model M(x); player 2 is the aggregate M(α) of selected peer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A190B-974A-482C-AE66-76EDB79F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3E1F5-1F75-4052-A154-476E7366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35125-6910-470B-90C2-9266A620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Choose weights ψ(x) and ψ(α) subject to ψ(x) + ψ(α) = 1 in a convex combination of the two models.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1E57D-89C1-42F7-9B3D-EFC64C17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E77F7-C4FB-4001-B497-55C12907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Payoff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BD8BD-3A1B-4BFB-88CB-155A479D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Maximize the accuracy of the weighted combined model on node x's local data. The paper calls this a two-player constant-sum cooperative game.</a:t>
            </a:r>
          </a:p>
        </p:txBody>
      </p:sp>
    </p:spTree>
    <p:extLst>
      <p:ext uri="{BB962C8B-B14F-4D97-AF65-F5344CB8AC3E}">
        <p14:creationId xmlns:p14="http://schemas.microsoft.com/office/powerpoint/2010/main" val="1517206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9FE1E-66DC-4E53-9192-140A021E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weight-search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6CD1B-DFF9-4E05-AA67-6F8CDAD4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FACCB-0192-41F9-95D5-9A4ACD2B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C92C8-56E6-4C68-962F-2320DEB6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58F94-F71E-46EF-B138-25AFD69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Initialize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0E286-BEA0-47A9-AC5A-9545AD8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Start with ψ(x)=0 and ψ(α)=1, meaning the peer aggregate initially has full weight.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5D8AA-7A62-4FF6-9034-AF773336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7D804-9CB1-486E-824A-D83B1EF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Perturb and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CE4DC-2FA7-4806-9D88-90A833A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Increase ψ(x) by δ and decrease ψ(α) by δ. Evaluate the changed combination for r game rounds on local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D69DA-0F2E-47C6-B296-55167EA9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00B39-5E03-49C1-9FEA-FCD73F4D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Accept when useful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429CB-4E56-4542-8226-1270F155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Keep the new weights only if local accuracy improves by more than β. The paper gives time complexity O(|C(x)|)+O(r).</a:t>
            </a:r>
          </a:p>
        </p:txBody>
      </p:sp>
    </p:spTree>
    <p:extLst>
      <p:ext uri="{BB962C8B-B14F-4D97-AF65-F5344CB8AC3E}">
        <p14:creationId xmlns:p14="http://schemas.microsoft.com/office/powerpoint/2010/main" val="16908108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586AA-E7DA-499E-A6BE-2765DFB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results and lesson for DFL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1094B-81E8-4155-867A-6C0C4B08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E3EDC-5F98-4FE2-B24D-E6F45B7E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2641D-301F-4259-86AF-D04FB33F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DCFD3-1ACD-4AEB-86BC-401B7EC9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A8184-CA2A-437E-8EEB-1DD65996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Fashion-MNIST, CIFAR-10, and CIFAR-100 under extreme, severe, and homogeneous data heterogeneity, compared with pFedGraph.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1F60D-B2A1-42ED-829B-F5C6735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EFDBA-929A-49A2-B978-38858BE0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C0102-7683-48AD-B876-B1516BA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performs comparably in some heterogeneous settings but has lower reported average accuracy than pFedGraph on CIFAR-10 and CIFAR-100 in the paper's summary 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F6BC7-F7E7-47D3-BF89-49086DB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6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54992-D235-4AF0-9C93-4521962F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Lesson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DB60B-02C3-4A88-BBCD-40CC37F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33975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DFL can use game vocabulary to formalize a local aggregation trade-off. This differs from modeling attacker and defender incentives under poisoning.</a:t>
            </a:r>
          </a:p>
        </p:txBody>
      </p:sp>
    </p:spTree>
    <p:extLst>
      <p:ext uri="{BB962C8B-B14F-4D97-AF65-F5344CB8AC3E}">
        <p14:creationId xmlns:p14="http://schemas.microsoft.com/office/powerpoint/2010/main" val="71904500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90D8A-89A0-4919-AD08-8A60329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5: FORCE (Dong et al., 2026)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AE5A4-5629-43C3-A52F-BCC9E1FA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04536-3386-4ABC-8E14-20A5492F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F7768-BD84-42BF-BC9E-06AF14AA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141E6-AA4D-4084-B91D-34CC980D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Shapley-inspired contribution aggregation for Byzantine-resilient DFL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65C39-42C2-40EC-B4DD-CECB14FC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9973617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274FD-1DB0-4813-BA58-D87AB7C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motivation and system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07138-958E-45AE-93BC-8481FC7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E65C3-2C83-425F-8618-B4E91D1A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9FE9B-3775-456D-9B79-FA8C725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19129-B110-45AD-826E-9BF8663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1048E-EE2E-4B6A-89B6-E75935C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Decentralized FL lets clients exchange models without a server. Each node may also act as a local aggregator.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56C6A-51DF-4353-BACB-3F98A67B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21460-208D-4156-B476-D965C45E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1EA37-890C-4255-859F-FAB8F62D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Byzantine clients can send arbitrary or adaptive malicious updates. The paper argues that gradient-checking defenses can be manipulated.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2B5A2-51DE-4694-B0EF-B936DC04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B76B1-3CE2-47B6-9070-45CB280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20B9D-A096-43FD-BF61-C8FAE4D8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Identify potentially malicious neighbors using a universal contribution measure based on local-model loss rather than a particular gradient pattern.</a:t>
            </a:r>
          </a:p>
        </p:txBody>
      </p:sp>
    </p:spTree>
    <p:extLst>
      <p:ext uri="{BB962C8B-B14F-4D97-AF65-F5344CB8AC3E}">
        <p14:creationId xmlns:p14="http://schemas.microsoft.com/office/powerpoint/2010/main" val="8927162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56849-EB1E-4460-9031-AFCD700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the Shapley-value intuition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48E5A-2BC7-4837-B7AA-3B091F9F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07F72-2D40-4D6E-8663-24C997B1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B5D7A-ADFA-4E1F-A003-0D82607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5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 a set of contributors, the Shapley value assigns each contributor its average marginal contribution across possible coalition orders.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D406F-0B17-4211-ACA9-C1C7DB1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2DD8F-209D-4678-AAD5-02E8588F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Coalition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C54E9-6FCE-4439-8A73-ABFF7DE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Define how good an aggregate is. A contributor gains value when its addition improves that coalition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8B732-98EE-4F55-8C62-BCC288B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CA81D-3EF5-4460-B27B-D8F3677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Fair averaging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E5EC5-85D4-4250-AB0D-E47D566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Average marginal contribution over different subsets and orders to avoid crediting only one arbitrary arrival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A69FE-4106-4C82-8905-8579B60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In FORCE, the published abstract says the contribution signal comes from local-model loss and helps identify potentially malicious clients.</a:t>
            </a:r>
          </a:p>
        </p:txBody>
      </p:sp>
    </p:spTree>
    <p:extLst>
      <p:ext uri="{BB962C8B-B14F-4D97-AF65-F5344CB8AC3E}">
        <p14:creationId xmlns:p14="http://schemas.microsoft.com/office/powerpoint/2010/main" val="185889365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B94CF-8559-419E-A240-ABA86CA7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published method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D5B6E-39FA-4ABC-A2E2-A7269F0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9ABD-1852-44BC-BBE7-BC6DE2F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1959D-D8BD-4974-A2BA-A3A3703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E8AEA-4F16-4969-81A0-DF0FEB54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Contribution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02916-95A0-4888-A671-0186C2DC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FORCE draws inspiration from Shapley value and evaluates a local-model loss independent of specific gradients.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204A1-D6A3-490E-959A-6A918C17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8511D-4D01-4329-A177-49A7F60B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Aggregation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7B2DD-AB44-4D07-B95D-7C29C5BD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This contribution evaluation supports identification of potentially malicious clients before or during local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F6FBE-84D4-4DB9-BC8D-EA4FED3E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44C80-DE0C-429E-ACB2-09670F09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Game-theory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8B1C2-AD97-427E-B886-F19DDEF2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game-theory component is contribution valuation, rather than a reported Nash, minimax, or Stackelberg attacker-defender equilibrium.</a:t>
            </a:r>
          </a:p>
        </p:txBody>
      </p:sp>
    </p:spTree>
    <p:extLst>
      <p:ext uri="{BB962C8B-B14F-4D97-AF65-F5344CB8AC3E}">
        <p14:creationId xmlns:p14="http://schemas.microsoft.com/office/powerpoint/2010/main" val="180378480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78099-5FA2-46ED-9B89-6724E8A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FORCE-: scalability through approximation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E2A2F-25BB-40C4-8699-F6E916C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37C3F-3C18-4886-ABAB-68AF483A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B0C73-4D87-4296-83E6-441D2208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490EE-8933-4BB2-9012-1872961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33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Cost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949D7-42A0-4374-93B2-80F7E02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Exact Shapley-style calculations can grow expensive as a node has more neighboring clients.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8F10C-B260-42D2-ACB5-6688B715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1CBE-3090-42E9-8211-85BC63B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577B9-0E4F-4D1E-9926-7180655B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introduces FORCE-, described as a computation-lightweight variant that approximates Shapley-value computation.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B21BD-54BE-42D2-8D03-4EEB1E3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F7A77-1C82-4D9B-8CD2-7430B16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Deployment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F5DF1-DFCA-48DB-A247-359177B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Approximation matters in DFL because local aggregators can have limited compute resources and decentralized neighbor counts vary.</a:t>
            </a:r>
          </a:p>
        </p:txBody>
      </p:sp>
    </p:spTree>
    <p:extLst>
      <p:ext uri="{BB962C8B-B14F-4D97-AF65-F5344CB8AC3E}">
        <p14:creationId xmlns:p14="http://schemas.microsoft.com/office/powerpoint/2010/main" val="31551287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A97B1-558A-484E-899F-4EB9071C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evidence boundary and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18554-4DA6-4C98-86B3-276EEEBB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93F4F-AEA9-4E45-90D8-E535C3D6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6CE9A-A5D2-48A3-877A-D7FADF88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D39C3-56C1-4BFD-91AB-AE96E23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5B3B-1193-4296-BC00-D5E7FCD3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public abstract reports four datasets and three attack settings, with FORCE outperforming compared Byzantine-resilient DFL aggregation methods.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D4F88-DA46-4DB6-9B63-70E7AC52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7413B-F876-49AF-9C83-3D9E9A5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Evidence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0B044-7E8F-486A-878A-F5BCC6BD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accessible source for this review provides abstract-level method details. Exact scoring equation, approximation procedure, and experimental protocol require the full article before reproducing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F732C-B363-4C98-B209-E80E4CA1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25FC7-BA04-4EF4-9307-414707C9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Relevance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690C-E218-4D35-ACF8-87A68ABD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FORCE is the closest reviewed paper to DFL plus poisoning resilience, but its game-theory mechanism is contribution aggregation rather than strategic attacker-defender equilibrium.</a:t>
            </a:r>
          </a:p>
        </p:txBody>
      </p:sp>
    </p:spTree>
    <p:extLst>
      <p:ext uri="{BB962C8B-B14F-4D97-AF65-F5344CB8AC3E}">
        <p14:creationId xmlns:p14="http://schemas.microsoft.com/office/powerpoint/2010/main" val="1757918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4DF59-9B5A-4B81-ACDE-AD21E0AB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Cross-paper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786FF-AA4B-4713-BC4D-250A552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4E4A1-2F80-4DEC-BB2D-2E63735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85739"/>
                <a:gridCol w="3446003"/>
                <a:gridCol w="2992582"/>
                <a:gridCol w="2448476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Players / choices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Solution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Main metric focus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Sagduyu et al.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 poisons; server admits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Nash best responses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Classification reward and action costs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 selects ratio and trigger; server scores updates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plus operational heuristics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TA, ASR, score cost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 Stackelberg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Defender policy; type-specific adaptive attacker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BSE, meta-SE, policy gradient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Global accuracy, backdoor accuracy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Own model versus peer aggregate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Local weight 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Local model accuracy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FORCE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Neighbor contributions in DFL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Byzantine robustness and overhead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72367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A28ED-8E0D-423D-9401-DDD5BA6A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changes across the papers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9FE13-1EE3-437B-BDAE-277ECCDF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1A2A2-EC5C-4491-B34F-09D6B134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908E3-650A-4D61-A2BF-3769756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34644-A860-4AAF-853F-A7BABA0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Who 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03D8E-F0E3-4B52-9F28-BF9B63C3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Some papers model an explicit attacker and defender. Others use game theory to value contributions or choose aggregation weights.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D2A4D-46F9-4046-8B66-872E261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30E8B-15C0-40C5-A794-AFD1355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480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is uncertain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1E3C4-28C6-4467-B7A9-DC039AE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From no hidden type in a compact Nash model to unknown attack types and multi-round evidence in Meta Stackelberg.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EBB9E-325F-457D-9364-EFE83C33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9E178-844C-484E-A802-6DC31E42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counts as a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8382A-C543-4AB9-851C-0004BE3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Equilibrium analysis, minimax optimization, policy learning, and Shapley-inspired scoring answer distinct research questions.</a:t>
            </a:r>
          </a:p>
        </p:txBody>
      </p:sp>
    </p:spTree>
    <p:extLst>
      <p:ext uri="{BB962C8B-B14F-4D97-AF65-F5344CB8AC3E}">
        <p14:creationId xmlns:p14="http://schemas.microsoft.com/office/powerpoint/2010/main" val="101754399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39139-560C-4819-A92A-A36996D2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Reading checklist for a game-theoretic FL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E03F8-D777-4657-9C65-7616523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EA862-A854-4289-A1AE-E5C3780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75689-00A8-4A32-9E47-6D60829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1F9E1-154A-4BEB-94E9-F0115BF9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1. Identify the players and action 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3C307-6CD6-4384-9635-A98B197F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Do the paper's real decision variables correspond to the claimed players?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7A7FE-14C9-4013-B1A3-329288D9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F3085-F8D5-4995-9574-4774187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2. Inspect information and timing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94C04-7821-4E9E-AEB4-49E80D2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variables are hidden, and do simultaneous or leader-follower moves reflect the system?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CA299-FFF6-40A5-ACEB-D39A7C14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91C20-5A15-4E9F-901B-58DD2EBF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3. Read the utility or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A7681-8B6B-4C75-8253-AD9FCEC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trade-offs are rewarded or penalized? Are clean utility and attack damage both measured?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0714A-A67D-46B0-B742-F008CC18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14520-C2FB-4EFC-BF1E-EFEB699E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4. Separate theory from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126E1-CAAF-4DEE-B2D9-9551397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Does the operational algorithm actually approximate the stated equilibrium or optimization problem?</a:t>
            </a:r>
          </a:p>
        </p:txBody>
      </p:sp>
    </p:spTree>
    <p:extLst>
      <p:ext uri="{BB962C8B-B14F-4D97-AF65-F5344CB8AC3E}">
        <p14:creationId xmlns:p14="http://schemas.microsoft.com/office/powerpoint/2010/main" val="200602189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BEAEE-A5B8-4618-AE70-4895813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Key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257AA-9BB8-4AC2-AD34-94294EA1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D5C5A-CDEC-4D41-A2AB-03FE730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18CD6-A0EC-41F6-ADC2-95B0CFE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1A799-5BA9-47A1-A21B-E3BF9098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theory supplies a modeling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0D2D5-5167-48C1-8E25-390DD9ED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Players, actions, utilities, information, timing, and solution concepts make strategic assumptions inspectable.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9F2DF-A158-4589-B5A1-522E4199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7CA70-9D47-40A4-9DC2-CE8CC25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Adaptive attacks motivate dynamic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06F7-5353-43CC-A708-B8786245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FedGame and Meta Stackelberg explicitly account for the attacker changing behavior in response to defense.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B6E80-AA37-464F-B331-418B2ED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762CA-78D9-4E3B-8022-74C1B06D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DFL uses game theory in more than one 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8AECC-364C-4A51-889E-3C61E2E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pFedGame and FORCE show aggregation and contribution formulations; they should not be presented as identical to an attacker-defender strategic game.</a:t>
            </a:r>
          </a:p>
        </p:txBody>
      </p:sp>
    </p:spTree>
    <p:extLst>
      <p:ext uri="{BB962C8B-B14F-4D97-AF65-F5344CB8AC3E}">
        <p14:creationId xmlns:p14="http://schemas.microsoft.com/office/powerpoint/2010/main" val="20621904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E0676-0E17-4204-9D3A-DA76242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Selected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C2CEA-C509-4061-93F3-04387419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0FC97-3309-492A-B686-D38B5B69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83440-2778-4212-B910-F4D9259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1. Sagduyu, Erpek, and Shi. Securing NextG Systems against Poisoning Attacks on Federated Learning: A Game-Theoretic Solution. arXiv:2312.17164, 2023.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F04C5-51C1-475F-82E6-E5A30C9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2. Jia et al. FedGame: A Game-Theoretic Defense against Backdoor Attacks in Federated Learning. NeurIPS 2023.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5BA1E-BBC6-4512-94FC-A40BD8C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3. Li et al. Meta Stackelberg Game: Robust Federated Learning against Adaptive and Mixed Poisoning Attacks. arXiv:2410.17431, 2024.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1713F-4DD3-42D1-AEDA-A2609277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4. Behera and Chakraborty. pFedGame: Decentralized Federated Learning using Game Theory in Dynamic Topology. arXiv:2410.04058, 2024.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0C17C-2625-494D-9357-5BF2A7C5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5. Dong et al. FORCE: Byzantine-Resilient Decentralized Federated Learning via Game-Theoretic Contribution Aggregation. IEEE TIFS 21, 2026. DOI: 10.1109/TIFS.2026.3674690.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EEA28-6453-4807-BCCD-74AC085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125" i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Research notes: game_theory_research_note.md</a:t>
            </a:r>
          </a:p>
        </p:txBody>
      </p:sp>
    </p:spTree>
    <p:extLst>
      <p:ext uri="{BB962C8B-B14F-4D97-AF65-F5344CB8AC3E}">
        <p14:creationId xmlns:p14="http://schemas.microsoft.com/office/powerpoint/2010/main" val="612151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2026-09-28T20:58:35.9810000Z</dcterms:created>
  <dcterms:modified xsi:type="dcterms:W3CDTF">2026-09-28T20:58:35.9810000Z</dcterms:modified>
</coreProperties>
</file>