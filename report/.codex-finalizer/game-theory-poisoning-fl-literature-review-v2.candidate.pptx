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ea220a135d446d" /><Relationship Type="http://schemas.openxmlformats.org/officeDocument/2006/relationships/extended-properties" Target="/docProps/app.xml" Id="R31e21629ecd54b73" /><Relationship Type="http://schemas.openxmlformats.org/officeDocument/2006/relationships/officeDocument" Target="/ppt/presentation.xml" Id="Rf179c2e00dc345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a0aaefa9fc44a0"/>
  </p:sldMasterIdLst>
  <p:notesMasterIdLst>
    <p:notesMasterId xmlns:r="http://schemas.openxmlformats.org/officeDocument/2006/relationships" r:id="R88f0d03352f04650"/>
  </p:notesMasterIdLst>
  <p:sldIdLst>
    <p:sldId xmlns:r="http://schemas.openxmlformats.org/officeDocument/2006/relationships" id="256" r:id="R1be7a24e22944e84"/>
    <p:sldId xmlns:r="http://schemas.openxmlformats.org/officeDocument/2006/relationships" id="257" r:id="Rc65d70fb720e4355"/>
    <p:sldId xmlns:r="http://schemas.openxmlformats.org/officeDocument/2006/relationships" id="258" r:id="R4c3c599778964a26"/>
    <p:sldId xmlns:r="http://schemas.openxmlformats.org/officeDocument/2006/relationships" id="259" r:id="R7c270e576a4242c1"/>
    <p:sldId xmlns:r="http://schemas.openxmlformats.org/officeDocument/2006/relationships" id="260" r:id="Rb17cf683718d4533"/>
    <p:sldId xmlns:r="http://schemas.openxmlformats.org/officeDocument/2006/relationships" id="261" r:id="Rd1014e9434064b09"/>
    <p:sldId xmlns:r="http://schemas.openxmlformats.org/officeDocument/2006/relationships" id="262" r:id="R4257f6316db94016"/>
    <p:sldId xmlns:r="http://schemas.openxmlformats.org/officeDocument/2006/relationships" id="263" r:id="R9b3a992edf424b0d"/>
    <p:sldId xmlns:r="http://schemas.openxmlformats.org/officeDocument/2006/relationships" id="264" r:id="Rf0e324c4520e4222"/>
    <p:sldId xmlns:r="http://schemas.openxmlformats.org/officeDocument/2006/relationships" id="265" r:id="R1d0dc7f0c5cf43f2"/>
    <p:sldId xmlns:r="http://schemas.openxmlformats.org/officeDocument/2006/relationships" id="266" r:id="R5d575287bf9b43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d15300a8194d0d" /><Relationship Type="http://schemas.openxmlformats.org/officeDocument/2006/relationships/slideMaster" Target="/ppt/slideMasters/slideMaster1.xml" Id="R66a0aaefa9fc44a0" /><Relationship Type="http://schemas.openxmlformats.org/officeDocument/2006/relationships/notesMaster" Target="/ppt/notesMasters/notesMaster1.xml" Id="R88f0d03352f04650" /><Relationship Type="http://schemas.openxmlformats.org/officeDocument/2006/relationships/presProps" Target="/ppt/presProps.xml" Id="R0d489141b6bc4e7c" /><Relationship Type="http://schemas.openxmlformats.org/officeDocument/2006/relationships/tableStyles" Target="/ppt/tableStyles.xml" Id="R6d3e2bfa542b4bfb" /><Relationship Type="http://schemas.openxmlformats.org/officeDocument/2006/relationships/slide" Target="/ppt/slides/slide1.xml" Id="R1be7a24e22944e84" /><Relationship Type="http://schemas.openxmlformats.org/officeDocument/2006/relationships/slide" Target="/ppt/slides/slide2.xml" Id="Rc65d70fb720e4355" /><Relationship Type="http://schemas.openxmlformats.org/officeDocument/2006/relationships/slide" Target="/ppt/slides/slide3.xml" Id="R4c3c599778964a26" /><Relationship Type="http://schemas.openxmlformats.org/officeDocument/2006/relationships/slide" Target="/ppt/slides/slide4.xml" Id="R7c270e576a4242c1" /><Relationship Type="http://schemas.openxmlformats.org/officeDocument/2006/relationships/slide" Target="/ppt/slides/slide5.xml" Id="Rb17cf683718d4533" /><Relationship Type="http://schemas.openxmlformats.org/officeDocument/2006/relationships/slide" Target="/ppt/slides/slide6.xml" Id="Rd1014e9434064b09" /><Relationship Type="http://schemas.openxmlformats.org/officeDocument/2006/relationships/slide" Target="/ppt/slides/slide7.xml" Id="R4257f6316db94016" /><Relationship Type="http://schemas.openxmlformats.org/officeDocument/2006/relationships/slide" Target="/ppt/slides/slide8.xml" Id="R9b3a992edf424b0d" /><Relationship Type="http://schemas.openxmlformats.org/officeDocument/2006/relationships/slide" Target="/ppt/slides/slide9.xml" Id="Rf0e324c4520e4222" /><Relationship Type="http://schemas.openxmlformats.org/officeDocument/2006/relationships/slide" Target="/ppt/slides/slide10.xml" Id="R1d0dc7f0c5cf43f2" /><Relationship Type="http://schemas.openxmlformats.org/officeDocument/2006/relationships/slide" Target="/ppt/slides/slide11.xml" Id="R5d575287bf9b43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76fc7749ae42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28b1a7122b45ec" /><Relationship Type="http://schemas.openxmlformats.org/officeDocument/2006/relationships/notesMaster" Target="/ppt/notesMasters/notesMaster1.xml" Id="Rbf535060c20149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4736f5117f45eb" /><Relationship Type="http://schemas.openxmlformats.org/officeDocument/2006/relationships/notesMaster" Target="/ppt/notesMasters/notesMaster1.xml" Id="Rfb6610d90d3f42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d91d69bfaa4543" /><Relationship Type="http://schemas.openxmlformats.org/officeDocument/2006/relationships/notesMaster" Target="/ppt/notesMasters/notesMaster1.xml" Id="Rafb03b1edcb041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f64d67649e45f5" /><Relationship Type="http://schemas.openxmlformats.org/officeDocument/2006/relationships/notesMaster" Target="/ppt/notesMasters/notesMaster1.xml" Id="R28dc8efbab0644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f1c5c667bd4ee0" /><Relationship Type="http://schemas.openxmlformats.org/officeDocument/2006/relationships/notesMaster" Target="/ppt/notesMasters/notesMaster1.xml" Id="R3362792fa3b344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15b1ce2dbb4646" /><Relationship Type="http://schemas.openxmlformats.org/officeDocument/2006/relationships/notesMaster" Target="/ppt/notesMasters/notesMaster1.xml" Id="R5875b20a25a846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ca365817464348" /><Relationship Type="http://schemas.openxmlformats.org/officeDocument/2006/relationships/notesMaster" Target="/ppt/notesMasters/notesMaster1.xml" Id="R58089083c13642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73f361f704491e" /><Relationship Type="http://schemas.openxmlformats.org/officeDocument/2006/relationships/notesMaster" Target="/ppt/notesMasters/notesMaster1.xml" Id="R2ba9e711ec0a42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fd1f1b33a2477f" /><Relationship Type="http://schemas.openxmlformats.org/officeDocument/2006/relationships/notesMaster" Target="/ppt/notesMasters/notesMaster1.xml" Id="R867aaba986b04d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cae39e222b4c00" /><Relationship Type="http://schemas.openxmlformats.org/officeDocument/2006/relationships/notesMaster" Target="/ppt/notesMasters/notesMaster1.xml" Id="R8d67eb7160504c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d9c7f8b6354e8a" /><Relationship Type="http://schemas.openxmlformats.org/officeDocument/2006/relationships/notesMaster" Target="/ppt/notesMasters/notesMaster1.xml" Id="Rc77c988f71ca41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game-theory literature review for poisoning attacks in federated learning. Sources appear on the relevant research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motivation. Relevant direct strategic-defense sources: Sagduyu, Erpek, and Shi (2023), arXiv:2312.17164; Jia et al. (2023), FedGame, NeurIPS 2023.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General game-theory vocabulary synthesized for the presentation. See also Sagduyu et al. (2023), arXiv:2312.17164, and Li et al. (2024), arXiv:2410.17431.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framework for reading the papers. A game model must make entities, actions, information, payoffs, and timing explicit.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Definitions are standard game-theory terminology. The application to FL follows Sagduyu et al. (2023) for Nash reasoning and Li et al. (2024) for Bayesian Stackelberg reasoning.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Game-family classification synthesized from the reviewed papers. Direct sources: Sagduyu et al. (2023); Jia et al. (2023); Li et al. (2024); Behera and Chakraborty (2024); Dong et al. (2026).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 et al. (2024), Meta Stackelberg Game, models uncertain attack types with a Bayesian Stackelberg Markov game and online adaptation. arXiv:2410.17431.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Sagduyu, Erpek, and Shi (2023), arXiv:2312.17164; Jia et al. (2023), FedGame, NeurIPS 2023; Li et al. (2024), arXiv:2410.17431; Behera and Chakraborty (2024), arXiv:2410.04058; Dong et al. (2026), IEEE TIFS, DOI 10.1109/TIFS.2026.3674690.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Comparison based on the papers' stated models and evaluated objectives. Sources: Sagduyu et al. (2023), arXiv:2312.17164; Jia et al. (2023), NeurIPS 2023; Li et al. (2024), arXiv:2410.17431; Behera and Chakraborty (2024), arXiv:2410.04058; Dong et al. (2026), DOI 10.1109/TIFS.2026.3674690.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Synthesis from all reviewed sources. The distinctions reflect the papers' stated players, objectives, and evaluation settings rather than a claim of complete literature coverage.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Bibliographic references are included visibly on this final slide. Verify final publication status for arXiv preprints before using them in the formal thesis bibliography.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255d01c04946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7314536b144c26" /><Relationship Type="http://schemas.openxmlformats.org/officeDocument/2006/relationships/slideLayout" Target="/ppt/slideLayouts/slideLayout1.xml" Id="R2a58b07237a048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58b07237a048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e3ebc171245b5" /><Relationship Type="http://schemas.openxmlformats.org/officeDocument/2006/relationships/notesSlide" Target="/ppt/notesSlides/notesSlide1.xml" Id="R5081db8254464d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64924ad3d4a2f" /><Relationship Type="http://schemas.openxmlformats.org/officeDocument/2006/relationships/notesSlide" Target="/ppt/notesSlides/notesSlide2.xml" Id="R0f5326086a9b4a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eea8cf47046ee" /><Relationship Type="http://schemas.openxmlformats.org/officeDocument/2006/relationships/notesSlide" Target="/ppt/notesSlides/notesSlide3.xml" Id="Rf5f5b9da2e7d49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8ed52f67243a5" /><Relationship Type="http://schemas.openxmlformats.org/officeDocument/2006/relationships/notesSlide" Target="/ppt/notesSlides/notesSlide4.xml" Id="Rc0609b76380644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6972d408d4e09" /><Relationship Type="http://schemas.openxmlformats.org/officeDocument/2006/relationships/notesSlide" Target="/ppt/notesSlides/notesSlide5.xml" Id="R2a41afc40e7e49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b6383fa344957" /><Relationship Type="http://schemas.openxmlformats.org/officeDocument/2006/relationships/notesSlide" Target="/ppt/notesSlides/notesSlide6.xml" Id="R060b161d20414e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d067a22d54a87" /><Relationship Type="http://schemas.openxmlformats.org/officeDocument/2006/relationships/notesSlide" Target="/ppt/notesSlides/notesSlide7.xml" Id="R6b4f491b7b2c45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45d2dc0454937" /><Relationship Type="http://schemas.openxmlformats.org/officeDocument/2006/relationships/notesSlide" Target="/ppt/notesSlides/notesSlide8.xml" Id="R133cb3b092d843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6f6f691b249d9" /><Relationship Type="http://schemas.openxmlformats.org/officeDocument/2006/relationships/notesSlide" Target="/ppt/notesSlides/notesSlide9.xml" Id="R2f9a4722501a49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857fda7de4d25" /><Relationship Type="http://schemas.openxmlformats.org/officeDocument/2006/relationships/notesSlide" Target="/ppt/notesSlides/notesSlide10.xml" Id="R17aa9f72dbf84c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e33aa21514652" /><Relationship Type="http://schemas.openxmlformats.org/officeDocument/2006/relationships/notesSlide" Target="/ppt/notesSlides/notesSlide11.xml" Id="Rf7aa131b9ff145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 accent">
            <a:extLst xmlns:a="http://schemas.openxmlformats.org/drawingml/2006/main">
              <a:ext uri="{FF2B5EF4-FFF2-40B4-BE49-F238E27FC236}">
                <a16:creationId xmlns:a16="http://schemas.microsoft.com/office/drawing/2014/main" id="{D043B67B-F279-4323-9330-D9F4C6FC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762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4457B-2F6E-4F56-BF2E-4122406B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85900"/>
            <a:ext cx="9334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375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Game Theory for Modeling</a:t>
            </a:r>
          </a:p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375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Poisoning Attacks in Federated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200A6-837B-4CD4-A42B-732845B5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CC8C8"/>
                </a:solidFill>
                <a:latin typeface="Fira Sans"/>
                <a:ea typeface="Fira Sans"/>
                <a:cs typeface="Fira Sans"/>
              </a:defRPr>
            </a:pPr>
            <a:r>
              <a:rPr sz="1800">
                <a:solidFill>
                  <a:srgbClr val="5CC8C8"/>
                </a:solidFill>
                <a:latin typeface="Fira Sans"/>
                <a:ea typeface="Fira Sans"/>
                <a:cs typeface="Fira Sans"/>
              </a:rPr>
              <a:t>Concepts, game families, and literature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4272A-6BEB-4A14-BCB5-2D575BC7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AD0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B8CAD0"/>
                </a:solidFill>
                <a:latin typeface="Fira Sans"/>
                <a:ea typeface="Fira Sans"/>
                <a:cs typeface="Fira Sans"/>
              </a:rPr>
              <a:t>Academic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C534A-6280-47E1-9DC3-A52C476A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67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6A84B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D6A84B"/>
                </a:solidFill>
                <a:latin typeface="Fira Sans"/>
                <a:ea typeface="Fira Sans"/>
                <a:cs typeface="Fira Sans"/>
              </a:rPr>
              <a:t>Federated Learning Security</a:t>
            </a:r>
          </a:p>
        </p:txBody>
      </p:sp>
    </p:spTree>
    <p:extLst>
      <p:ext uri="{BB962C8B-B14F-4D97-AF65-F5344CB8AC3E}">
        <p14:creationId xmlns:p14="http://schemas.microsoft.com/office/powerpoint/2010/main" val="9265413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3C8F5-5C91-4B8D-9C91-F0156458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Why poisoning can be modeled strategically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4FD6AFFC-A39D-4321-88F4-24F20F08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34129-2180-4799-867A-88841E53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95CA8-02A2-453E-B136-D9BDA065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8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 poisoned update is not only an anomaly. It can be a deliberate response to the defender's expected behavior.</a:t>
            </a:r>
          </a:p>
        </p:txBody>
      </p:sp>
      <p:sp>
        <p:nvSpPr>
          <p:cNvPr id="5" name="bullet marker">
            <a:extLst xmlns:a="http://schemas.openxmlformats.org/drawingml/2006/main">
              <a:ext uri="{FF2B5EF4-FFF2-40B4-BE49-F238E27FC236}">
                <a16:creationId xmlns:a16="http://schemas.microsoft.com/office/drawing/2014/main" id="{EC720375-921D-4464-9DDA-9EE4E18E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0056B-DF23-446E-97E4-167E5D72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90800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Attacker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BC5ED-2CA1-4023-A57F-A0B57875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0512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attacker can choose timing, target, intensity, or whether to mimic benign updates.</a:t>
            </a:r>
          </a:p>
        </p:txBody>
      </p:sp>
      <p:sp>
        <p:nvSpPr>
          <p:cNvPr id="8" name="bullet marker">
            <a:extLst xmlns:a="http://schemas.openxmlformats.org/drawingml/2006/main">
              <a:ext uri="{FF2B5EF4-FFF2-40B4-BE49-F238E27FC236}">
                <a16:creationId xmlns:a16="http://schemas.microsoft.com/office/drawing/2014/main" id="{6BB6C22D-E4A1-4559-9A2D-84D2F526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57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61F28-E694-46A7-98A7-FC4F027A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90800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Defender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AF8CD-1519-4C40-9F66-20932D3C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0512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The defender can admit, reject, reweight, inspect, or isolate an update or client.</a:t>
            </a:r>
          </a:p>
        </p:txBody>
      </p:sp>
      <p:sp>
        <p:nvSpPr>
          <p:cNvPr id="11" name="bullet marker">
            <a:extLst xmlns:a="http://schemas.openxmlformats.org/drawingml/2006/main">
              <a:ext uri="{FF2B5EF4-FFF2-40B4-BE49-F238E27FC236}">
                <a16:creationId xmlns:a16="http://schemas.microsoft.com/office/drawing/2014/main" id="{EFE00FB4-8AF3-48F7-816D-0FF5AC39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3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D6043-90C6-4DD7-AEA7-7DC18023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63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Mutual adaptation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17AB4B-A027-461E-A63F-3D599729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86275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Each decision changes the other side's future incentives, costs, and expected outcomes.</a:t>
            </a:r>
          </a:p>
        </p:txBody>
      </p:sp>
    </p:spTree>
    <p:extLst>
      <p:ext uri="{BB962C8B-B14F-4D97-AF65-F5344CB8AC3E}">
        <p14:creationId xmlns:p14="http://schemas.microsoft.com/office/powerpoint/2010/main" val="2394729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60001-457A-4101-A3AF-E34954C5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Core vocabulary of game-theoretic modeling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5BD0B4A6-A3CC-40EC-A75E-4663AD49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D1789-6FED-4123-BCA9-6699672C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04850" y="1428750"/>
          <a:ext xmlns:a="http://schemas.openxmlformats.org/drawingml/2006/main" cx="10763250" cy="42672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83114"/>
                <a:gridCol w="3696470"/>
                <a:gridCol w="4783667"/>
              </a:tblGrid>
              <a:tr h="7112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Concept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Poisoning example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Player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An entity that chooses actions to improve its utility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Attacker, defender, client, receiving node</a:t>
                      </a:r>
                    </a:p>
                  </a:txBody>
                  <a:tcPr marL="91440" marR="91440" marT="45720" marB="45720"/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A feasible choice at a decision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Attack intensity; accept, reject, or reweight</a:t>
                      </a:r>
                    </a:p>
                  </a:txBody>
                  <a:tcPr marL="91440" marR="91440" marT="45720" marB="45720"/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Strategy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A rule for selecting actions in possible situations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A policy maps observed updates to a defense action</a:t>
                      </a:r>
                    </a:p>
                  </a:txBody>
                  <a:tcPr marL="91440" marR="91440" marT="45720" marB="45720"/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Utility / payoff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Numerical preference over outcomes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Model performance, attack success, effort, false-positive cost</a:t>
                      </a:r>
                    </a:p>
                  </a:txBody>
                  <a:tcPr marL="91440" marR="91440" marT="45720" marB="45720"/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Information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What a player knows when acting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The defender may not know attacker identity or type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98273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558962-4C04-4733-A671-D1E656AA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Elements of a game model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BAC32053-F0D0-4F50-898F-A6306F2B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55A05-4154-4513-9E5F-5FEB6E93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AA5D0-D55B-42C4-8601-96C74B25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017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5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 paper must define these elements before it can claim a strategic game model.</a:t>
            </a:r>
          </a:p>
        </p:txBody>
      </p:sp>
      <p:sp>
        <p:nvSpPr>
          <p:cNvPr id="5" name="bullet marker">
            <a:extLst xmlns:a="http://schemas.openxmlformats.org/drawingml/2006/main">
              <a:ext uri="{FF2B5EF4-FFF2-40B4-BE49-F238E27FC236}">
                <a16:creationId xmlns:a16="http://schemas.microsoft.com/office/drawing/2014/main" id="{D622B95E-AFDC-4B74-B546-6485BF9A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258FD-8FCA-4D43-A60C-8AD9CFA0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7170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Players and action sets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5574C-D46A-417D-A677-9E885B7B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86025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Who makes decisions, and which actions are feasible for each player.</a:t>
            </a:r>
          </a:p>
        </p:txBody>
      </p:sp>
      <p:sp>
        <p:nvSpPr>
          <p:cNvPr id="8" name="bullet marker">
            <a:extLst xmlns:a="http://schemas.openxmlformats.org/drawingml/2006/main">
              <a:ext uri="{FF2B5EF4-FFF2-40B4-BE49-F238E27FC236}">
                <a16:creationId xmlns:a16="http://schemas.microsoft.com/office/drawing/2014/main" id="{5D703C9A-F0AB-4429-9ABA-B8ED909C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8F779-DDCB-4FE3-BE0B-2CE1A08D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7170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Information and beliefs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3A437-2A59-43A4-99B9-43E5EE65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86025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Which observations are public, private, or uncertain at the time of action.</a:t>
            </a:r>
          </a:p>
        </p:txBody>
      </p:sp>
      <p:sp>
        <p:nvSpPr>
          <p:cNvPr id="11" name="bullet marker">
            <a:extLst xmlns:a="http://schemas.openxmlformats.org/drawingml/2006/main">
              <a:ext uri="{FF2B5EF4-FFF2-40B4-BE49-F238E27FC236}">
                <a16:creationId xmlns:a16="http://schemas.microsoft.com/office/drawing/2014/main" id="{D749F7FE-8E23-481C-A562-C59994C0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14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21BF9-7691-4CBF-B805-A3CA5636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4810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Utilities and costs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661B4-3181-4F4B-8DBF-B8505CB1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62425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How performance, damage, effort, false positives, and overhead affect preferences.</a:t>
            </a:r>
          </a:p>
        </p:txBody>
      </p:sp>
      <p:sp>
        <p:nvSpPr>
          <p:cNvPr id="14" name="bullet marker">
            <a:extLst xmlns:a="http://schemas.openxmlformats.org/drawingml/2006/main">
              <a:ext uri="{FF2B5EF4-FFF2-40B4-BE49-F238E27FC236}">
                <a16:creationId xmlns:a16="http://schemas.microsoft.com/office/drawing/2014/main" id="{A8F89E4D-11F3-425A-927E-985BB355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14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FF716D-73A0-486C-AACF-A2B0B300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4810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Timing and transition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E4C67B-77A5-47DB-BEE0-46B0090B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62425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Whether choices are simultaneous or sequential, and how one round changes the next state.</a:t>
            </a:r>
          </a:p>
        </p:txBody>
      </p:sp>
    </p:spTree>
    <p:extLst>
      <p:ext uri="{BB962C8B-B14F-4D97-AF65-F5344CB8AC3E}">
        <p14:creationId xmlns:p14="http://schemas.microsoft.com/office/powerpoint/2010/main" val="14651751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B48D8A-369F-420D-BCEB-F4D264C8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Equilibrium and solution concepts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1A7F324B-D1CA-4655-B832-71A80A13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3A367-6CCF-416F-87A7-5A255B5C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4546C-A407-496B-905A-A80BA5D1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1062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926"/>
          </a:bodyPr>
          <a:lstStyle xmlns:a="http://schemas.openxmlformats.org/drawingml/2006/main"/>
          <a:p xmlns:a="http://schemas.openxmlformats.org/drawingml/2006/main">
            <a:pPr>
              <a:defRPr sz="1575" i="1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575" i="1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An equilibrium predicts stable behavior within stated assumptions. It does not guarantee safety in every real system.</a:t>
            </a:r>
          </a:p>
        </p:txBody>
      </p:sp>
      <p:sp>
        <p:nvSpPr>
          <p:cNvPr id="5" name="bullet marker">
            <a:extLst xmlns:a="http://schemas.openxmlformats.org/drawingml/2006/main">
              <a:ext uri="{FF2B5EF4-FFF2-40B4-BE49-F238E27FC236}">
                <a16:creationId xmlns:a16="http://schemas.microsoft.com/office/drawing/2014/main" id="{D8A47225-1B25-473F-BFD0-11AF1C49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88EE0-E821-4464-AFFD-45D95186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925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Nash equilibrium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C7A52-962A-4046-AFE3-908B24C8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76525"/>
            <a:ext cx="925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No player improves its utility by changing strategy alone while others remain fixed.</a:t>
            </a:r>
          </a:p>
        </p:txBody>
      </p:sp>
      <p:sp>
        <p:nvSpPr>
          <p:cNvPr id="8" name="bullet marker">
            <a:extLst xmlns:a="http://schemas.openxmlformats.org/drawingml/2006/main">
              <a:ext uri="{FF2B5EF4-FFF2-40B4-BE49-F238E27FC236}">
                <a16:creationId xmlns:a16="http://schemas.microsoft.com/office/drawing/2014/main" id="{7EAE4B8A-07D5-4925-AF7B-D84ED8FB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38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2F095-85B6-46ED-AC2C-2E2E054A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71850"/>
            <a:ext cx="925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Bayesian Nash equilibrium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66125-8A17-4545-8177-51787CF2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86175"/>
            <a:ext cx="925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Each player acts under beliefs about hidden types, such as benign or malicious clients.</a:t>
            </a:r>
          </a:p>
        </p:txBody>
      </p:sp>
      <p:sp>
        <p:nvSpPr>
          <p:cNvPr id="11" name="bullet marker">
            <a:extLst xmlns:a="http://schemas.openxmlformats.org/drawingml/2006/main">
              <a:ext uri="{FF2B5EF4-FFF2-40B4-BE49-F238E27FC236}">
                <a16:creationId xmlns:a16="http://schemas.microsoft.com/office/drawing/2014/main" id="{01D82481-8572-4EA2-9604-3359DFEF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48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7D7E2-BCC3-48E1-8DE7-2B21BBFF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81500"/>
            <a:ext cx="925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Stackelberg equilibrium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5C6059-9581-4630-AEF1-5E1499AA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95825"/>
            <a:ext cx="925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 leader commits to a strategy and a follower best-responds. The timing must be justified.</a:t>
            </a:r>
          </a:p>
        </p:txBody>
      </p:sp>
    </p:spTree>
    <p:extLst>
      <p:ext uri="{BB962C8B-B14F-4D97-AF65-F5344CB8AC3E}">
        <p14:creationId xmlns:p14="http://schemas.microsoft.com/office/powerpoint/2010/main" val="15362552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FF576-076F-496E-B171-6B0AF179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Game families used in poisoning research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AE4D29A3-FFF5-4BD2-A2EF-151DC4E3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D29DA-C404-41D7-937B-ACFD3947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04850" y="1390650"/>
          <a:ext xmlns:a="http://schemas.openxmlformats.org/drawingml/2006/main" cx="10763250" cy="4476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90813"/>
                <a:gridCol w="3587750"/>
                <a:gridCol w="4484688"/>
              </a:tblGrid>
              <a:tr h="63953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Game family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Key assumption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What it captures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Normal-form / Nash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One-stage, simultaneous choices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A compact attack-defense decision</a:t>
                      </a:r>
                    </a:p>
                  </a:txBody>
                  <a:tcPr marL="91440" marR="91440" marT="45720" marB="45720"/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Repeated game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The interaction continues over rounds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Trust building, delayed attacks, on-off behavior</a:t>
                      </a:r>
                    </a:p>
                  </a:txBody>
                  <a:tcPr marL="91440" marR="91440" marT="45720" marB="45720"/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Bayesian game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A player type is hidden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Uncertain attacker identity or attack family</a:t>
                      </a:r>
                    </a:p>
                  </a:txBody>
                  <a:tcPr marL="91440" marR="91440" marT="45720" marB="45720"/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Stochastic / Markov game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State changes after actions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Adaptation across learning rounds</a:t>
                      </a:r>
                    </a:p>
                  </a:txBody>
                  <a:tcPr marL="91440" marR="91440" marT="45720" marB="45720"/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Stackelberg game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Leader commits; follower responds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Policy commitment and adaptive best response</a:t>
                      </a:r>
                    </a:p>
                  </a:txBody>
                  <a:tcPr marL="91440" marR="91440" marT="45720" marB="45720"/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Coalitional / Shapley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Coalition contribution is valued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Incentives or contribution-aware aggregation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91448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33896-CC05-48E5-946D-086451E9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Information and dynamics across training rounds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4BDCC800-2A9B-489E-8649-EBEDD99C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58252-0454-4ADF-B512-4FAECF5F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27B1D-9F26-4C9A-8BD3-C2A14EF7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33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800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Incomplete information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D9EC7-DDEE-4437-9CED-A74876C6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000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500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 defender cannot directly observe whether an unusual update comes from malicious behavior or benign data heterogeneity.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4F535-611B-42F1-8D08-0F20AEC5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33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800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Repeated interaction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6A67D-A977-4A0B-A7D3-84537792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09800"/>
            <a:ext cx="4000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500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Training rounds create history. Previous actions can change trust, detection risk, model state, and later incentives.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2E677-C8F4-4780-9716-D53A7397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767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7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725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Bayesian models represent uncertainty through beliefs over hidden types. Markov models represent how the state changes after actions.</a:t>
            </a:r>
          </a:p>
        </p:txBody>
      </p:sp>
    </p:spTree>
    <p:extLst>
      <p:ext uri="{BB962C8B-B14F-4D97-AF65-F5344CB8AC3E}">
        <p14:creationId xmlns:p14="http://schemas.microsoft.com/office/powerpoint/2010/main" val="5332452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EBA9A-09BE-49C9-B5EF-86020933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Literature map: five different uses of game theory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E7787B60-6F6C-4D39-8198-A60319D7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0270A-8004-48CF-9ECC-ED2EEE71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08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04850" y="1381125"/>
          <a:ext xmlns:a="http://schemas.openxmlformats.org/drawingml/2006/main" cx="10763250" cy="4495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17992"/>
                <a:gridCol w="3913909"/>
                <a:gridCol w="4131348"/>
              </a:tblGrid>
              <a:tr h="7493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Paper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Game-theory approach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Primary purpose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Sagduyu et al. (2023)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Nash game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Poisoning and client-admission decisions</a:t>
                      </a:r>
                    </a:p>
                  </a:txBody>
                  <a:tcPr marL="91440" marR="91440" marT="45720" marB="45720"/>
                </a:tc>
              </a:tr>
              <a:tr h="749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FedGame (2023)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Minimax game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Defense against dynamic backdoor attackers</a:t>
                      </a:r>
                    </a:p>
                  </a:txBody>
                  <a:tcPr marL="91440" marR="91440" marT="45720" marB="45720"/>
                </a:tc>
              </a:tr>
              <a:tr h="749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Meta Stackelberg (2024)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Bayesian Stackelberg Markov game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Adaptive defense under uncertain attack types</a:t>
                      </a:r>
                    </a:p>
                  </a:txBody>
                  <a:tcPr marL="91440" marR="91440" marT="45720" marB="45720"/>
                </a:tc>
              </a:tr>
              <a:tr h="749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pFedGame (2024)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Constant-sum cooperative weighting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Localized DFL aggregation in dynamic topology</a:t>
                      </a:r>
                    </a:p>
                  </a:txBody>
                  <a:tcPr marL="91440" marR="91440" marT="45720" marB="45720"/>
                </a:tc>
              </a:tr>
              <a:tr h="749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FORCE (2026)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Shapley-inspired contribution aggregation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Byzantine-resilient DFL aggregation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07862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AF10B-8CFE-4F1C-AD88-C1B1681B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How the reviewed papers differ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FE154CCF-000E-4B5D-A445-F256704D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86299-6282-4BA5-B5BB-88733061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09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11049000" cy="4619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905000"/>
                <a:gridCol w="2762250"/>
                <a:gridCol w="3048000"/>
                <a:gridCol w="3333750"/>
              </a:tblGrid>
              <a:tr h="7699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Paper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Players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Information / timing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Fira Sans"/>
                          <a:ea typeface="Fira Sans"/>
                          <a:cs typeface="Fira Sans"/>
                        </a:rPr>
                        <a:t>Strategic focus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</a:tr>
              <a:tr h="7699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Sagduyu et al.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Attacker and defender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Compact poisoning-admission game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Nash utility trade-off</a:t>
                      </a:r>
                    </a:p>
                  </a:txBody>
                  <a:tcPr marL="91440" marR="91440" marT="45720" marB="45720"/>
                </a:tc>
              </a:tr>
              <a:tr h="7699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FedGame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Dynamic attacker and defender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Adaptive interaction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Minimax robustness against backdoors</a:t>
                      </a:r>
                    </a:p>
                  </a:txBody>
                  <a:tcPr marL="91440" marR="91440" marT="45720" marB="45720"/>
                </a:tc>
              </a:tr>
              <a:tr h="7699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Meta Stackelberg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Defender leader; attacker follower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Hidden attack type; multi-round state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Meta-policy adaptation</a:t>
                      </a:r>
                    </a:p>
                  </a:txBody>
                  <a:tcPr marL="91440" marR="91440" marT="45720" marB="45720"/>
                </a:tc>
              </a:tr>
              <a:tr h="7699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pFedGame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Own model and aggregate 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Local aggregation rounds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Weight optimization, not adversarial defense</a:t>
                      </a:r>
                    </a:p>
                  </a:txBody>
                  <a:tcPr marL="91440" marR="91440" marT="45720" marB="45720"/>
                </a:tc>
              </a:tr>
              <a:tr h="7699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Fira Sans"/>
                          <a:ea typeface="Fira Sans"/>
                          <a:cs typeface="Fira Sans"/>
                        </a:rPr>
                        <a:t>FORCE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Contributors / local aggregation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Contribution evaluation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Fira Sans"/>
                          <a:ea typeface="Fira Sans"/>
                          <a:cs typeface="Fira Sans"/>
                        </a:rPr>
                        <a:t>Shapley-inspired Byzantine resilience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79191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3F327-E540-4CD2-B9BC-F1597F71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Literature synthesis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1C2687A9-4FD4-4710-A7A6-A2670247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30103-DFD3-490E-9A7F-8A3DDB4E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10</a:t>
            </a:r>
          </a:p>
        </p:txBody>
      </p:sp>
      <p:sp>
        <p:nvSpPr>
          <p:cNvPr id="4" name="bullet marker">
            <a:extLst xmlns:a="http://schemas.openxmlformats.org/drawingml/2006/main">
              <a:ext uri="{FF2B5EF4-FFF2-40B4-BE49-F238E27FC236}">
                <a16:creationId xmlns:a16="http://schemas.microsoft.com/office/drawing/2014/main" id="{EEDDAE25-C085-48C4-849B-AFB70AD8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81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DF960-69EE-4EB1-8702-49CD4144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14500"/>
            <a:ext cx="963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Strategic defense has strong centralized-FL precedents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1A0FB-E526-448E-983D-C6F9A19F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28825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Nash, minimax, and Bayesian Stackelberg approaches explicitly model attacker and defender incentives.</a:t>
            </a:r>
          </a:p>
        </p:txBody>
      </p:sp>
      <p:sp>
        <p:nvSpPr>
          <p:cNvPr id="7" name="bullet marker">
            <a:extLst xmlns:a="http://schemas.openxmlformats.org/drawingml/2006/main">
              <a:ext uri="{FF2B5EF4-FFF2-40B4-BE49-F238E27FC236}">
                <a16:creationId xmlns:a16="http://schemas.microsoft.com/office/drawing/2014/main" id="{340A84DC-C277-4719-9850-3D777FCF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9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065F9-C090-4CC8-B3A8-A0F4A070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963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DFL work uses game theory in a different 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975DA-9483-4AEE-B5FF-5E11EFCA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57575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pFedGame focuses on local aggregation weights, while FORCE uses contribution valuation for Byzantine resilience.</a:t>
            </a:r>
          </a:p>
        </p:txBody>
      </p:sp>
      <p:sp>
        <p:nvSpPr>
          <p:cNvPr id="10" name="bullet marker">
            <a:extLst xmlns:a="http://schemas.openxmlformats.org/drawingml/2006/main">
              <a:ext uri="{FF2B5EF4-FFF2-40B4-BE49-F238E27FC236}">
                <a16:creationId xmlns:a16="http://schemas.microsoft.com/office/drawing/2014/main" id="{241D0A99-8048-4511-A52A-2CAB000C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38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A626C-CBAC-46A5-95C0-8E26245A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72000"/>
            <a:ext cx="963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15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The terminology needs care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56D988-4325-4345-861C-650E5D71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86325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Fira Sans"/>
                <a:ea typeface="Fira Sans"/>
                <a:cs typeface="Fira Sans"/>
              </a:defRPr>
            </a:pPr>
            <a:r>
              <a:rPr sz="1275">
                <a:solidFill>
                  <a:srgbClr val="506174"/>
                </a:solidFill>
                <a:latin typeface="Fira Sans"/>
                <a:ea typeface="Fira Sans"/>
                <a:cs typeface="Fira Sans"/>
              </a:rPr>
              <a:t>A game-theoretic aggregation heuristic differs from an adversarial strategic game with players, actions, information, payoffs, and equilibrium.</a:t>
            </a:r>
          </a:p>
        </p:txBody>
      </p:sp>
    </p:spTree>
    <p:extLst>
      <p:ext uri="{BB962C8B-B14F-4D97-AF65-F5344CB8AC3E}">
        <p14:creationId xmlns:p14="http://schemas.microsoft.com/office/powerpoint/2010/main" val="4441605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C61DB-13D6-47EA-8389-B329A8E9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defRPr>
            </a:pPr>
            <a:r>
              <a:rPr sz="2475" b="1">
                <a:solidFill>
                  <a:srgbClr val="0D1B2A"/>
                </a:solidFill>
                <a:latin typeface="Fira Sans"/>
                <a:ea typeface="Fira Sans"/>
                <a:cs typeface="Fira Sans"/>
              </a:rPr>
              <a:t>Selected references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23BA14C0-E733-4086-ADB4-FF23E149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D8DCC-5957-4498-8829-34D2DC0E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050" b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8032E-086F-42E5-9414-B600BD8F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1. Sagduyu, Erpek, and Shi. Securing NextG Systems against Poisoning Attacks on Federated Learning: A Game-Theoretic Solution. arXiv:2312.17164, 2023.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688C0-3F6C-4D8D-B2DA-C47172B8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2. Jia et al. FedGame: A Game-Theoretic Defense against Backdoor Attacks in Federated Learning. NeurIPS 2023.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90805-D12F-4C7F-A7A0-34112EC3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3. Li et al. Meta Stackelberg Game: Robust Federated Learning against Adaptive and Mixed Poisoning Attacks. arXiv:2410.17431, 2024.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D839A-C34B-445F-8CA2-CC696226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4. Behera and Chakraborty. pFedGame: Decentralized Federated Learning using Game Theory in Dynamic Topology. arXiv:2410.04058, 2024.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4C467-9051-4B9A-9515-88EE3915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033"/>
                </a:solidFill>
                <a:latin typeface="Fira Sans"/>
                <a:ea typeface="Fira Sans"/>
                <a:cs typeface="Fira Sans"/>
              </a:defRPr>
            </a:pPr>
            <a:r>
              <a:rPr sz="1200">
                <a:solidFill>
                  <a:srgbClr val="122033"/>
                </a:solidFill>
                <a:latin typeface="Fira Sans"/>
                <a:ea typeface="Fira Sans"/>
                <a:cs typeface="Fira Sans"/>
              </a:rPr>
              <a:t>5. Dong et al. FORCE: Byzantine-Resilient Decentralized Federated Learning via Game-Theoretic Contribution Aggregation. IEEE TIFS, 2026. DOI: 10.1109/TIFS.2026.3674690.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6EA16-81E1-4873-A29E-BA563512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i="1">
                <a:solidFill>
                  <a:srgbClr val="007C83"/>
                </a:solidFill>
                <a:latin typeface="Fira Sans"/>
                <a:ea typeface="Fira Sans"/>
                <a:cs typeface="Fira Sans"/>
              </a:defRPr>
            </a:pPr>
            <a:r>
              <a:rPr sz="1125" i="1">
                <a:solidFill>
                  <a:srgbClr val="007C83"/>
                </a:solidFill>
                <a:latin typeface="Fira Sans"/>
                <a:ea typeface="Fira Sans"/>
                <a:cs typeface="Fira Sans"/>
              </a:rPr>
              <a:t>Full links and reading notes: game_theory_research_note.md</a:t>
            </a:r>
          </a:p>
        </p:txBody>
      </p:sp>
    </p:spTree>
    <p:extLst>
      <p:ext uri="{BB962C8B-B14F-4D97-AF65-F5344CB8AC3E}">
        <p14:creationId xmlns:p14="http://schemas.microsoft.com/office/powerpoint/2010/main" val="12388321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2026-09-28T20:40:59.5510000Z</dcterms:created>
  <dcterms:modified xsi:type="dcterms:W3CDTF">2026-09-28T20:40:59.5510000Z</dcterms:modified>
</coreProperties>
</file>