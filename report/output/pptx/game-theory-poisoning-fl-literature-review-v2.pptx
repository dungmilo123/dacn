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EB7CB5E-542B-4177-AC03-3AEE624DCF8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Scope: game-theory literature review for poisoning attacks in federated learning. Sources appear on the relevant research slides.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Conceptual motivation. Relevant direct strategic-defense sources: Sagduyu, Erpek, and Shi (2023), arXiv:2312.17164; Jia et al. (2023), FedGame, NeurIPS 2023.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General game-theory vocabulary synthesized for the presentation. See also Sagduyu et al. (2023), arXiv:2312.17164, and Li et al. (2024), arXiv:2410.17431.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Conceptual framework for reading the papers. A game model must make entities, actions, information, payoffs, and timing explicit.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Definitions are standard game-theory terminology. The application to FL follows Sagduyu et al. (2023) for Nash reasoning and Li et al. (2024) for Bayesian Stackelberg reasoning.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Game-family classification synthesized from the reviewed papers. Direct sources: Sagduyu et al. (2023); Jia et al. (2023); Li et al. (2024); Behera and Chakraborty (2024); Dong et al. (2026).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 et al. (2024), Meta Stackelberg Game, models uncertain attack types with a Bayesian Stackelberg Markov game and online adaptation. arXiv:2410.17431.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Sources: Sagduyu, Erpek, and Shi (2023), arXiv:2312.17164; Jia et al. (2023), FedGame, NeurIPS 2023; Li et al. (2024), arXiv:2410.17431; Behera and Chakraborty (2024), arXiv:2410.04058; Dong et al. (2026), IEEE TIFS, DOI 10.1109/TIFS.2026.3674690.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Comparison based on the papers' stated models and evaluated objectives. Sources: Sagduyu et al. (2023), arXiv:2312.17164; Jia et al. (2023), NeurIPS 2023; Li et al. (2024), arXiv:2410.17431; Behera and Chakraborty (2024), arXiv:2410.04058; Dong et al. (2026), DOI 10.1109/TIFS.2026.3674690.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Synthesis from all reviewed sources. The distinctions reflect the papers' stated players, objectives, and evaluation settings rather than a claim of complete literature coverage.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Bibliographic references are included visibly on this final slide. Verify final publication status for arXiv preprints before using them in the formal thesis bibliography.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 accent"/>
          <p:cNvSpPr/>
          <p:nvPr/>
        </p:nvSpPr>
        <p:spPr>
          <a:xfrm>
            <a:off x="723960" y="1257480"/>
            <a:ext cx="75960" cy="388584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1162080" y="1486080"/>
            <a:ext cx="9334080" cy="16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3380" spc="-1" strike="noStrike">
                <a:solidFill>
                  <a:srgbClr val="ffffff"/>
                </a:solidFill>
                <a:latin typeface="Fira Sans"/>
                <a:ea typeface="Fira Sans"/>
              </a:rPr>
              <a:t>Game Theory for Modeling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380" spc="-1" strike="noStrike">
                <a:solidFill>
                  <a:srgbClr val="ffffff"/>
                </a:solidFill>
                <a:latin typeface="Fira Sans"/>
                <a:ea typeface="Fira Sans"/>
              </a:rPr>
              <a:t>Poisoning Attacks in Federated Learning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200240" y="3429000"/>
            <a:ext cx="7238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c8c8"/>
                </a:solidFill>
                <a:latin typeface="Fira Sans"/>
                <a:ea typeface="Fira Sans"/>
              </a:rPr>
              <a:t>Concepts, game families, and literature review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Why poisoning can be modeled strategically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04880" y="144792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870" spc="-1" strike="noStrike">
                <a:solidFill>
                  <a:srgbClr val="0d1b2a"/>
                </a:solidFill>
                <a:latin typeface="Fira Sans"/>
                <a:ea typeface="Fira Sans"/>
              </a:rPr>
              <a:t>A poisoned update is not only an anomaly. It can be a deliberate response to the defender's expected behavior.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bullet marker"/>
          <p:cNvSpPr/>
          <p:nvPr/>
        </p:nvSpPr>
        <p:spPr>
          <a:xfrm>
            <a:off x="933480" y="2657520"/>
            <a:ext cx="95040" cy="95040"/>
          </a:xfrm>
          <a:prstGeom prst="rect">
            <a:avLst/>
          </a:prstGeom>
          <a:solidFill>
            <a:srgbClr val="d6a84b"/>
          </a:solidFill>
          <a:ln w="0">
            <a:solidFill>
              <a:srgbClr val="d6a8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200240" y="2590920"/>
            <a:ext cx="44002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Attacker choice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200240" y="2905200"/>
            <a:ext cx="440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The attacker can choose timing, target, intensity, or whether to mimic benign updates.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bullet marker"/>
          <p:cNvSpPr/>
          <p:nvPr/>
        </p:nvSpPr>
        <p:spPr>
          <a:xfrm>
            <a:off x="6191280" y="2657520"/>
            <a:ext cx="95040" cy="9504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458040" y="2590920"/>
            <a:ext cx="44002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Defender choice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458040" y="2905200"/>
            <a:ext cx="440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The defender can admit, reject, reweight, inspect, or isolate an update or client.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bullet marker"/>
          <p:cNvSpPr/>
          <p:nvPr/>
        </p:nvSpPr>
        <p:spPr>
          <a:xfrm>
            <a:off x="933480" y="4238640"/>
            <a:ext cx="95040" cy="95040"/>
          </a:xfrm>
          <a:prstGeom prst="rect">
            <a:avLst/>
          </a:prstGeom>
          <a:solidFill>
            <a:srgbClr val="5cc8c8"/>
          </a:solidFill>
          <a:ln w="0">
            <a:solidFill>
              <a:srgbClr val="5cc8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200240" y="4172040"/>
            <a:ext cx="9639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Mutual adaptation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200240" y="4486320"/>
            <a:ext cx="9639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Each decision changes the other side's future incentives, costs, and expected outcomes.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Core vocabulary of game-theoretic modeling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" name=""/>
          <p:cNvGraphicFramePr/>
          <p:nvPr/>
        </p:nvGraphicFramePr>
        <p:xfrm>
          <a:off x="704880" y="1428840"/>
          <a:ext cx="10762920" cy="4266720"/>
        </p:xfrm>
        <a:graphic>
          <a:graphicData uri="http://schemas.openxmlformats.org/drawingml/2006/table">
            <a:tbl>
              <a:tblPr/>
              <a:tblGrid>
                <a:gridCol w="2282760"/>
                <a:gridCol w="3696120"/>
                <a:gridCol w="4783320"/>
              </a:tblGrid>
              <a:tr h="71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Concept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Meaning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Poisoning example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71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Player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An entity that chooses actions to improve its utility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Attacker, defender, client, receiving node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Action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 feasible choice at a decision point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Attack intensity; accept, reject, or reweight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Strategy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 rule for selecting actions in possible situations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 policy maps observed updates to a defense action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Utility / payoff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Numerical preference over outcomes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Model performance, attack success, effort, false-positive cost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Information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What a player knows when acting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The defender may not know attacker identity or type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Elements of a game model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04880" y="1400040"/>
            <a:ext cx="9715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580" spc="-1" strike="noStrike">
                <a:solidFill>
                  <a:srgbClr val="506174"/>
                </a:solidFill>
                <a:latin typeface="Fira Sans"/>
                <a:ea typeface="Fira Sans"/>
              </a:rPr>
              <a:t>A paper must define these elements before it can claim a strategic game model.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bullet marker"/>
          <p:cNvSpPr/>
          <p:nvPr/>
        </p:nvSpPr>
        <p:spPr>
          <a:xfrm>
            <a:off x="952560" y="2238480"/>
            <a:ext cx="95040" cy="9504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219320" y="2171880"/>
            <a:ext cx="4304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Players and action sets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219320" y="2486160"/>
            <a:ext cx="4304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Who makes decisions, and which actions are feasible for each player.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bullet marker"/>
          <p:cNvSpPr/>
          <p:nvPr/>
        </p:nvSpPr>
        <p:spPr>
          <a:xfrm>
            <a:off x="6286680" y="2238480"/>
            <a:ext cx="95040" cy="95040"/>
          </a:xfrm>
          <a:prstGeom prst="rect">
            <a:avLst/>
          </a:prstGeom>
          <a:solidFill>
            <a:srgbClr val="d6a84b"/>
          </a:solidFill>
          <a:ln w="0">
            <a:solidFill>
              <a:srgbClr val="d6a8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553080" y="2171880"/>
            <a:ext cx="4304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Information and beliefs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553080" y="2486160"/>
            <a:ext cx="4304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Which observations are public, private, or uncertain at the time of action.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bullet marker"/>
          <p:cNvSpPr/>
          <p:nvPr/>
        </p:nvSpPr>
        <p:spPr>
          <a:xfrm>
            <a:off x="952560" y="3914640"/>
            <a:ext cx="95040" cy="95040"/>
          </a:xfrm>
          <a:prstGeom prst="rect">
            <a:avLst/>
          </a:prstGeom>
          <a:solidFill>
            <a:srgbClr val="5cc8c8"/>
          </a:solidFill>
          <a:ln w="0">
            <a:solidFill>
              <a:srgbClr val="5cc8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219320" y="3848040"/>
            <a:ext cx="4304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Utilities and costs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219320" y="4162320"/>
            <a:ext cx="4304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How performance, damage, effort, false positives, and overhead affect preferences.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bullet marker"/>
          <p:cNvSpPr/>
          <p:nvPr/>
        </p:nvSpPr>
        <p:spPr>
          <a:xfrm>
            <a:off x="6286680" y="3914640"/>
            <a:ext cx="95040" cy="95040"/>
          </a:xfrm>
          <a:prstGeom prst="rect">
            <a:avLst/>
          </a:prstGeom>
          <a:solidFill>
            <a:srgbClr val="a64646"/>
          </a:solidFill>
          <a:ln w="0">
            <a:solidFill>
              <a:srgbClr val="a6464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553080" y="3848040"/>
            <a:ext cx="4304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Timing and transition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553080" y="4162320"/>
            <a:ext cx="4304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Whether choices are simultaneous or sequential, and how one round changes the next state.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Equilibrium and solution concepts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04880" y="1409760"/>
            <a:ext cx="106200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i="1" lang="en-US" sz="1580" spc="-1" strike="noStrike">
                <a:solidFill>
                  <a:srgbClr val="506174"/>
                </a:solidFill>
                <a:latin typeface="Fira Sans"/>
                <a:ea typeface="Fira Sans"/>
              </a:rPr>
              <a:t>An equilibrium predicts stable behavior within stated assumptions. It does not guarantee safety in every real system.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bullet marker"/>
          <p:cNvSpPr/>
          <p:nvPr/>
        </p:nvSpPr>
        <p:spPr>
          <a:xfrm>
            <a:off x="952560" y="2428920"/>
            <a:ext cx="95040" cy="9504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219320" y="2362320"/>
            <a:ext cx="9258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Nash equilibrium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219320" y="2676600"/>
            <a:ext cx="92581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No player improves its utility by changing strategy alone while others remain fixed.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bullet marker"/>
          <p:cNvSpPr/>
          <p:nvPr/>
        </p:nvSpPr>
        <p:spPr>
          <a:xfrm>
            <a:off x="952560" y="3438360"/>
            <a:ext cx="95040" cy="95040"/>
          </a:xfrm>
          <a:prstGeom prst="rect">
            <a:avLst/>
          </a:prstGeom>
          <a:solidFill>
            <a:srgbClr val="d6a84b"/>
          </a:solidFill>
          <a:ln w="0">
            <a:solidFill>
              <a:srgbClr val="d6a8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219320" y="3371760"/>
            <a:ext cx="9258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Bayesian Nash equilibrium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219320" y="3686040"/>
            <a:ext cx="92581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Each player acts under beliefs about hidden types, such as benign or malicious clients.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bullet marker"/>
          <p:cNvSpPr/>
          <p:nvPr/>
        </p:nvSpPr>
        <p:spPr>
          <a:xfrm>
            <a:off x="952560" y="4448160"/>
            <a:ext cx="95040" cy="95040"/>
          </a:xfrm>
          <a:prstGeom prst="rect">
            <a:avLst/>
          </a:prstGeom>
          <a:solidFill>
            <a:srgbClr val="5cc8c8"/>
          </a:solidFill>
          <a:ln w="0">
            <a:solidFill>
              <a:srgbClr val="5cc8c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219320" y="4381560"/>
            <a:ext cx="9258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Stackelberg equilibrium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219320" y="4695840"/>
            <a:ext cx="92581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A leader commits to a strategy and a follower best-responds. The timing must be justified.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Game families used in poisoning research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2" name=""/>
          <p:cNvGraphicFramePr/>
          <p:nvPr/>
        </p:nvGraphicFramePr>
        <p:xfrm>
          <a:off x="704880" y="1390680"/>
          <a:ext cx="10762920" cy="4476240"/>
        </p:xfrm>
        <a:graphic>
          <a:graphicData uri="http://schemas.openxmlformats.org/drawingml/2006/table">
            <a:tbl>
              <a:tblPr/>
              <a:tblGrid>
                <a:gridCol w="2690640"/>
                <a:gridCol w="3587400"/>
                <a:gridCol w="4484520"/>
              </a:tblGrid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Game family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Key assumption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What it captures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Normal-form / Nash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One-stage, simultaneous choices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 compact attack-defense decision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Repeated game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The interaction continues over rounds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Trust building, delayed attacks, on-off behavior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Bayesian game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 player type is hidden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Uncertain attacker identity or attack family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Stochastic / Markov game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State changes after actions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Adaptation across learning rounds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Stackelberg game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Leader commits; follower responds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Policy commitment and adaptive best response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Coalitional / Shapley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Coalition contribution is valued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Incentives or contribution-aware aggregation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Information and dynamics across training rounds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07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95320" y="1733400"/>
            <a:ext cx="4000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d1b2a"/>
                </a:solidFill>
                <a:latin typeface="Fira Sans"/>
                <a:ea typeface="Fira Sans"/>
              </a:rPr>
              <a:t>Incomplete information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95320" y="2209680"/>
            <a:ext cx="400032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06174"/>
                </a:solidFill>
                <a:latin typeface="Fira Sans"/>
                <a:ea typeface="Fira Sans"/>
              </a:rPr>
              <a:t>A defender cannot directly observe whether an unusual update comes from malicious behavior or benign data heterogeneity.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029360" y="1733400"/>
            <a:ext cx="4000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d1b2a"/>
                </a:solidFill>
                <a:latin typeface="Fira Sans"/>
                <a:ea typeface="Fira Sans"/>
              </a:rPr>
              <a:t>Repeated interaction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029360" y="2209680"/>
            <a:ext cx="400032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06174"/>
                </a:solidFill>
                <a:latin typeface="Fira Sans"/>
                <a:ea typeface="Fira Sans"/>
              </a:rPr>
              <a:t>Training rounds create history. Previous actions can change trust, detection risk, model state, and later incentives.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752480" y="4476600"/>
            <a:ext cx="85723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8333"/>
          </a:bodyPr>
          <a:p>
            <a:pPr algn="ctr">
              <a:lnSpc>
                <a:spcPct val="100000"/>
              </a:lnSpc>
            </a:pPr>
            <a:r>
              <a:rPr b="1" lang="en-US" sz="1729" spc="-1" strike="noStrike">
                <a:solidFill>
                  <a:srgbClr val="007c83"/>
                </a:solidFill>
                <a:latin typeface="Fira Sans"/>
                <a:ea typeface="Fira Sans"/>
              </a:rPr>
              <a:t>Bayesian models represent uncertainty through beliefs over hidden types. Markov models represent how the state changes after actions.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Literature map: five different uses of game theory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08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4" name=""/>
          <p:cNvGraphicFramePr/>
          <p:nvPr/>
        </p:nvGraphicFramePr>
        <p:xfrm>
          <a:off x="704880" y="1380960"/>
          <a:ext cx="10762920" cy="4495320"/>
        </p:xfrm>
        <a:graphic>
          <a:graphicData uri="http://schemas.openxmlformats.org/drawingml/2006/table">
            <a:tbl>
              <a:tblPr/>
              <a:tblGrid>
                <a:gridCol w="2717640"/>
                <a:gridCol w="3913560"/>
                <a:gridCol w="4131000"/>
              </a:tblGrid>
              <a:tr h="749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Paper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Game-theory approach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Primary purpose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Sagduyu et al. (2023)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Nash game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Poisoning and client-admission decisions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FedGame (2023)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Minimax game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Defense against dynamic backdoor attackers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Meta Stackelberg (2024)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Bayesian Stackelberg Markov game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Adaptive defense under uncertain attack types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pFedGame (2024)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Constant-sum cooperative weighting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Localized DFL aggregation in dynamic topology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FORCE (2026)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Shapley-inspired contribution aggregation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Byzantine-resilient DFL aggregation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How the reviewed papers differ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09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8" name=""/>
          <p:cNvGraphicFramePr/>
          <p:nvPr/>
        </p:nvGraphicFramePr>
        <p:xfrm>
          <a:off x="571680" y="1380960"/>
          <a:ext cx="11048760" cy="4619160"/>
        </p:xfrm>
        <a:graphic>
          <a:graphicData uri="http://schemas.openxmlformats.org/drawingml/2006/table">
            <a:tbl>
              <a:tblPr/>
              <a:tblGrid>
                <a:gridCol w="1904760"/>
                <a:gridCol w="2761920"/>
                <a:gridCol w="3047760"/>
                <a:gridCol w="3333600"/>
              </a:tblGrid>
              <a:tr h="76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Paper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Players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Information / timing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Fira Sans"/>
                          <a:ea typeface="Fira Sans"/>
                        </a:rPr>
                        <a:t>Strategic focus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76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Sagduyu et al.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Attacker and defender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Compact poisoning-admission game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Nash utility trade-off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FedGame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Dynamic attacker and defender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Adaptive interaction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Minimax robustness against backdoors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Meta Stackelberg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Defender leader; attacker follower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Hidden attack type; multi-round state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Meta-policy adaptation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pFedGame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Own model and aggregate model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Local aggregation rounds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Weight optimization, not adversarial defense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6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d1b2a"/>
                          </a:solidFill>
                          <a:latin typeface="Fira Sans"/>
                          <a:ea typeface="Fira Sans"/>
                        </a:rPr>
                        <a:t>FORCE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f4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Contributors / local aggregation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Contribution evaluation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22033"/>
                          </a:solidFill>
                          <a:latin typeface="Fira Sans"/>
                          <a:ea typeface="Fira Sans"/>
                        </a:rPr>
                        <a:t>Shapley-inspired Byzantine resilience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Literature synthesis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10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bullet marker"/>
          <p:cNvSpPr/>
          <p:nvPr/>
        </p:nvSpPr>
        <p:spPr>
          <a:xfrm>
            <a:off x="933480" y="1781280"/>
            <a:ext cx="95040" cy="9504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200240" y="1714680"/>
            <a:ext cx="9639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Strategic defense has strong centralized-FL precedents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200240" y="2028960"/>
            <a:ext cx="9639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Nash, minimax, and Bayesian Stackelberg approaches explicitly model attacker and defender incentives.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bullet marker"/>
          <p:cNvSpPr/>
          <p:nvPr/>
        </p:nvSpPr>
        <p:spPr>
          <a:xfrm>
            <a:off x="933480" y="3209760"/>
            <a:ext cx="95040" cy="95040"/>
          </a:xfrm>
          <a:prstGeom prst="rect">
            <a:avLst/>
          </a:prstGeom>
          <a:solidFill>
            <a:srgbClr val="d6a84b"/>
          </a:solidFill>
          <a:ln w="0">
            <a:solidFill>
              <a:srgbClr val="d6a8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200240" y="3143160"/>
            <a:ext cx="9639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DFL work uses game theory in a different way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200240" y="3457440"/>
            <a:ext cx="9639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pFedGame focuses on local aggregation weights, while FORCE uses contribution valuation for Byzantine resilience.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bullet marker"/>
          <p:cNvSpPr/>
          <p:nvPr/>
        </p:nvSpPr>
        <p:spPr>
          <a:xfrm>
            <a:off x="933480" y="4638600"/>
            <a:ext cx="95040" cy="95040"/>
          </a:xfrm>
          <a:prstGeom prst="rect">
            <a:avLst/>
          </a:prstGeom>
          <a:solidFill>
            <a:srgbClr val="a64646"/>
          </a:solidFill>
          <a:ln w="0">
            <a:solidFill>
              <a:srgbClr val="a6464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200240" y="4572000"/>
            <a:ext cx="9639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>
              <a:lnSpc>
                <a:spcPct val="100000"/>
              </a:lnSpc>
            </a:pPr>
            <a:r>
              <a:rPr b="1" lang="en-US" sz="1580" spc="-1" strike="noStrike">
                <a:solidFill>
                  <a:srgbClr val="0d1b2a"/>
                </a:solidFill>
                <a:latin typeface="Fira Sans"/>
                <a:ea typeface="Fira Sans"/>
              </a:rPr>
              <a:t>The terminology needs care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200240" y="4886280"/>
            <a:ext cx="9639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80" spc="-1" strike="noStrike">
                <a:solidFill>
                  <a:srgbClr val="506174"/>
                </a:solidFill>
                <a:latin typeface="Fira Sans"/>
                <a:ea typeface="Fira Sans"/>
              </a:rPr>
              <a:t>A game-theoretic aggregation heuristic differs from an adversarial strategic game with players, actions, information, payoffs, and equilibrium.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704880" y="438120"/>
            <a:ext cx="9715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1" lang="en-US" sz="2470" spc="-1" strike="noStrike">
                <a:solidFill>
                  <a:srgbClr val="0d1b2a"/>
                </a:solidFill>
                <a:latin typeface="Fira Sans"/>
                <a:ea typeface="Fira Sans"/>
              </a:rPr>
              <a:t>Selected references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itle accent"/>
          <p:cNvSpPr/>
          <p:nvPr/>
        </p:nvSpPr>
        <p:spPr>
          <a:xfrm>
            <a:off x="704880" y="1066680"/>
            <a:ext cx="742680" cy="56880"/>
          </a:xfrm>
          <a:prstGeom prst="rect">
            <a:avLst/>
          </a:prstGeom>
          <a:solidFill>
            <a:srgbClr val="007c83"/>
          </a:solidFill>
          <a:ln w="0">
            <a:solidFill>
              <a:srgbClr val="007c8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0858680" y="514440"/>
            <a:ext cx="609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</a:pPr>
            <a:r>
              <a:rPr b="1" lang="en-US" sz="1050" spc="-1" strike="noStrike">
                <a:solidFill>
                  <a:srgbClr val="007c83"/>
                </a:solidFill>
                <a:latin typeface="Fira Sans"/>
                <a:ea typeface="Fira Sans"/>
              </a:rPr>
              <a:t>11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800280" y="1523880"/>
            <a:ext cx="10572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22033"/>
                </a:solidFill>
                <a:latin typeface="Fira Sans"/>
                <a:ea typeface="Fira Sans"/>
              </a:rPr>
              <a:t>1. Sagduyu, Erpek, and Shi. Securing NextG Systems against Poisoning Attacks on Federated Learning: A Game-Theoretic Solution. arXiv:2312.17164, 2023.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00280" y="2324160"/>
            <a:ext cx="10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22033"/>
                </a:solidFill>
                <a:latin typeface="Fira Sans"/>
                <a:ea typeface="Fira Sans"/>
              </a:rPr>
              <a:t>2. Jia et al. FedGame: A Game-Theoretic Defense against Backdoor Attacks in Federated Learning. NeurIPS 2023.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800280" y="3105000"/>
            <a:ext cx="10572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22033"/>
                </a:solidFill>
                <a:latin typeface="Fira Sans"/>
                <a:ea typeface="Fira Sans"/>
              </a:rPr>
              <a:t>3. Li et al. Meta Stackelberg Game: Robust Federated Learning against Adaptive and Mixed Poisoning Attacks. arXiv:2410.17431, 2024.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00280" y="3943440"/>
            <a:ext cx="10572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22033"/>
                </a:solidFill>
                <a:latin typeface="Fira Sans"/>
                <a:ea typeface="Fira Sans"/>
              </a:rPr>
              <a:t>4. Behera and Chakraborty. pFedGame: Decentralized Federated Learning using Game Theory in Dynamic Topology. arXiv:2410.04058, 2024.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00280" y="4762440"/>
            <a:ext cx="10572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22033"/>
                </a:solidFill>
                <a:latin typeface="Fira Sans"/>
                <a:ea typeface="Fira Sans"/>
              </a:rPr>
              <a:t>5. Dong et al. FORCE: Byzantine-Resilient Decentralized Federated Learning via Game-Theoretic Contribution Aggregation. IEEE TIFS, 2026. DOI: 10.1109/TIFS.2026.3674690.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2026-09-28T20:40:59Z</dcterms:created>
  <dc:creator>Walnut Exporter</dc:creator>
  <dc:description/>
  <dc:language>en-US</dc:language>
  <cp:lastModifiedBy/>
  <dcterms:modified xsi:type="dcterms:W3CDTF">2026-09-29T03:57:08Z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