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82ca1df03477e" /><Relationship Type="http://schemas.openxmlformats.org/officeDocument/2006/relationships/extended-properties" Target="/docProps/app.xml" Id="Ra218d4b9e37d42ea" /><Relationship Type="http://schemas.openxmlformats.org/officeDocument/2006/relationships/officeDocument" Target="/ppt/presentation.xml" Id="R0552463189204b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89917b80814074"/>
  </p:sldMasterIdLst>
  <p:notesMasterIdLst>
    <p:notesMasterId xmlns:r="http://schemas.openxmlformats.org/officeDocument/2006/relationships" r:id="R9b63a1c431684654"/>
  </p:notesMasterIdLst>
  <p:sldIdLst>
    <p:sldId xmlns:r="http://schemas.openxmlformats.org/officeDocument/2006/relationships" id="256" r:id="R076c520679104791"/>
    <p:sldId xmlns:r="http://schemas.openxmlformats.org/officeDocument/2006/relationships" id="257" r:id="Rbf87f9443e284f9b"/>
    <p:sldId xmlns:r="http://schemas.openxmlformats.org/officeDocument/2006/relationships" id="258" r:id="Rb1e07697190f44b5"/>
    <p:sldId xmlns:r="http://schemas.openxmlformats.org/officeDocument/2006/relationships" id="259" r:id="R4aeb545916f44833"/>
    <p:sldId xmlns:r="http://schemas.openxmlformats.org/officeDocument/2006/relationships" id="260" r:id="R3b6329c081454ffd"/>
    <p:sldId xmlns:r="http://schemas.openxmlformats.org/officeDocument/2006/relationships" id="261" r:id="R015b17d63a1f430d"/>
    <p:sldId xmlns:r="http://schemas.openxmlformats.org/officeDocument/2006/relationships" id="262" r:id="Rca7a540f9d46425d"/>
    <p:sldId xmlns:r="http://schemas.openxmlformats.org/officeDocument/2006/relationships" id="263" r:id="Ra98e6cfaff3642d3"/>
    <p:sldId xmlns:r="http://schemas.openxmlformats.org/officeDocument/2006/relationships" id="264" r:id="Rb2ca936e9c8d4d32"/>
    <p:sldId xmlns:r="http://schemas.openxmlformats.org/officeDocument/2006/relationships" id="265" r:id="R504899adac67461e"/>
    <p:sldId xmlns:r="http://schemas.openxmlformats.org/officeDocument/2006/relationships" id="266" r:id="Ra9dde711907343ce"/>
    <p:sldId xmlns:r="http://schemas.openxmlformats.org/officeDocument/2006/relationships" id="267" r:id="R1980d169ee044da5"/>
    <p:sldId xmlns:r="http://schemas.openxmlformats.org/officeDocument/2006/relationships" id="268" r:id="Ra70b235ccecb4447"/>
    <p:sldId xmlns:r="http://schemas.openxmlformats.org/officeDocument/2006/relationships" id="269" r:id="R3621c663ec0149e8"/>
    <p:sldId xmlns:r="http://schemas.openxmlformats.org/officeDocument/2006/relationships" id="270" r:id="R064f3648e90a4c87"/>
    <p:sldId xmlns:r="http://schemas.openxmlformats.org/officeDocument/2006/relationships" id="271" r:id="R430add01327d440e"/>
    <p:sldId xmlns:r="http://schemas.openxmlformats.org/officeDocument/2006/relationships" id="272" r:id="R3a87a7a2502d42fd"/>
    <p:sldId xmlns:r="http://schemas.openxmlformats.org/officeDocument/2006/relationships" id="273" r:id="Rdd8aa14a9f5a448d"/>
    <p:sldId xmlns:r="http://schemas.openxmlformats.org/officeDocument/2006/relationships" id="274" r:id="Rcfc9947fbbc3426f"/>
    <p:sldId xmlns:r="http://schemas.openxmlformats.org/officeDocument/2006/relationships" id="275" r:id="R79c89192f51a4839"/>
    <p:sldId xmlns:r="http://schemas.openxmlformats.org/officeDocument/2006/relationships" id="276" r:id="R994c80c07c3b41fe"/>
    <p:sldId xmlns:r="http://schemas.openxmlformats.org/officeDocument/2006/relationships" id="277" r:id="R079f4478f7094bfe"/>
    <p:sldId xmlns:r="http://schemas.openxmlformats.org/officeDocument/2006/relationships" id="278" r:id="Rffe09e1d56a74889"/>
    <p:sldId xmlns:r="http://schemas.openxmlformats.org/officeDocument/2006/relationships" id="279" r:id="R63ddf983a97f4e96"/>
    <p:sldId xmlns:r="http://schemas.openxmlformats.org/officeDocument/2006/relationships" id="280" r:id="Rb1eb342c7afe4e13"/>
    <p:sldId xmlns:r="http://schemas.openxmlformats.org/officeDocument/2006/relationships" id="281" r:id="R648f7156f9bd4ea0"/>
    <p:sldId xmlns:r="http://schemas.openxmlformats.org/officeDocument/2006/relationships" id="282" r:id="R52ce896c03c34453"/>
    <p:sldId xmlns:r="http://schemas.openxmlformats.org/officeDocument/2006/relationships" id="283" r:id="Rff9b3480233942e2"/>
    <p:sldId xmlns:r="http://schemas.openxmlformats.org/officeDocument/2006/relationships" id="284" r:id="R14092e244e8748b1"/>
    <p:sldId xmlns:r="http://schemas.openxmlformats.org/officeDocument/2006/relationships" id="285" r:id="R993f62b2640c42ff"/>
    <p:sldId xmlns:r="http://schemas.openxmlformats.org/officeDocument/2006/relationships" id="286" r:id="Refee3003fbaa4471"/>
    <p:sldId xmlns:r="http://schemas.openxmlformats.org/officeDocument/2006/relationships" id="287" r:id="R437500de13244b54"/>
    <p:sldId xmlns:r="http://schemas.openxmlformats.org/officeDocument/2006/relationships" id="288" r:id="Rda2c7a0f9c344273"/>
    <p:sldId xmlns:r="http://schemas.openxmlformats.org/officeDocument/2006/relationships" id="289" r:id="Rae461f38c8744291"/>
    <p:sldId xmlns:r="http://schemas.openxmlformats.org/officeDocument/2006/relationships" id="290" r:id="R97b2fa1e0aa04db3"/>
    <p:sldId xmlns:r="http://schemas.openxmlformats.org/officeDocument/2006/relationships" id="291" r:id="Re4cbe0b31a604a71"/>
    <p:sldId xmlns:r="http://schemas.openxmlformats.org/officeDocument/2006/relationships" id="292" r:id="R15fdb6ef27bd4d22"/>
    <p:sldId xmlns:r="http://schemas.openxmlformats.org/officeDocument/2006/relationships" id="293" r:id="Re86209273117477b"/>
    <p:sldId xmlns:r="http://schemas.openxmlformats.org/officeDocument/2006/relationships" id="294" r:id="R548332a0a8334678"/>
    <p:sldId xmlns:r="http://schemas.openxmlformats.org/officeDocument/2006/relationships" id="295" r:id="Rbec949a9d16f4397"/>
    <p:sldId xmlns:r="http://schemas.openxmlformats.org/officeDocument/2006/relationships" id="296" r:id="Rad4a9379b4d04469"/>
    <p:sldId xmlns:r="http://schemas.openxmlformats.org/officeDocument/2006/relationships" id="297" r:id="Rbac014aad66d4de8"/>
    <p:sldId xmlns:r="http://schemas.openxmlformats.org/officeDocument/2006/relationships" id="298" r:id="R2f0028d230b64835"/>
    <p:sldId xmlns:r="http://schemas.openxmlformats.org/officeDocument/2006/relationships" id="299" r:id="R16a4617770564b7f"/>
    <p:sldId xmlns:r="http://schemas.openxmlformats.org/officeDocument/2006/relationships" id="300" r:id="R98d17b0358e44c4b"/>
    <p:sldId xmlns:r="http://schemas.openxmlformats.org/officeDocument/2006/relationships" id="301" r:id="R5eedc8e61fce4d77"/>
    <p:sldId xmlns:r="http://schemas.openxmlformats.org/officeDocument/2006/relationships" id="302" r:id="Ra9d91b1702184a87"/>
    <p:sldId xmlns:r="http://schemas.openxmlformats.org/officeDocument/2006/relationships" id="303" r:id="R363d3d9f77af45e5"/>
    <p:sldId xmlns:r="http://schemas.openxmlformats.org/officeDocument/2006/relationships" id="304" r:id="Rbcbea006d6804c63"/>
    <p:sldId xmlns:r="http://schemas.openxmlformats.org/officeDocument/2006/relationships" id="305" r:id="Rbc4e42cc68aa41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f5401b23cf441b" /><Relationship Type="http://schemas.openxmlformats.org/officeDocument/2006/relationships/slideMaster" Target="/ppt/slideMasters/slideMaster1.xml" Id="R7089917b80814074" /><Relationship Type="http://schemas.openxmlformats.org/officeDocument/2006/relationships/notesMaster" Target="/ppt/notesMasters/notesMaster1.xml" Id="R9b63a1c431684654" /><Relationship Type="http://schemas.openxmlformats.org/officeDocument/2006/relationships/presProps" Target="/ppt/presProps.xml" Id="R84db4aecd32242e9" /><Relationship Type="http://schemas.openxmlformats.org/officeDocument/2006/relationships/tableStyles" Target="/ppt/tableStyles.xml" Id="Ra98edc5f3aed41b6" /><Relationship Type="http://schemas.openxmlformats.org/officeDocument/2006/relationships/slide" Target="/ppt/slides/slide1.xml" Id="R076c520679104791" /><Relationship Type="http://schemas.openxmlformats.org/officeDocument/2006/relationships/slide" Target="/ppt/slides/slide2.xml" Id="Rbf87f9443e284f9b" /><Relationship Type="http://schemas.openxmlformats.org/officeDocument/2006/relationships/slide" Target="/ppt/slides/slide3.xml" Id="Rb1e07697190f44b5" /><Relationship Type="http://schemas.openxmlformats.org/officeDocument/2006/relationships/slide" Target="/ppt/slides/slide4.xml" Id="R4aeb545916f44833" /><Relationship Type="http://schemas.openxmlformats.org/officeDocument/2006/relationships/slide" Target="/ppt/slides/slide5.xml" Id="R3b6329c081454ffd" /><Relationship Type="http://schemas.openxmlformats.org/officeDocument/2006/relationships/slide" Target="/ppt/slides/slide6.xml" Id="R015b17d63a1f430d" /><Relationship Type="http://schemas.openxmlformats.org/officeDocument/2006/relationships/slide" Target="/ppt/slides/slide7.xml" Id="Rca7a540f9d46425d" /><Relationship Type="http://schemas.openxmlformats.org/officeDocument/2006/relationships/slide" Target="/ppt/slides/slide8.xml" Id="Ra98e6cfaff3642d3" /><Relationship Type="http://schemas.openxmlformats.org/officeDocument/2006/relationships/slide" Target="/ppt/slides/slide9.xml" Id="Rb2ca936e9c8d4d32" /><Relationship Type="http://schemas.openxmlformats.org/officeDocument/2006/relationships/slide" Target="/ppt/slides/slide10.xml" Id="R504899adac67461e" /><Relationship Type="http://schemas.openxmlformats.org/officeDocument/2006/relationships/slide" Target="/ppt/slides/slide11.xml" Id="Ra9dde711907343ce" /><Relationship Type="http://schemas.openxmlformats.org/officeDocument/2006/relationships/slide" Target="/ppt/slides/slide12.xml" Id="R1980d169ee044da5" /><Relationship Type="http://schemas.openxmlformats.org/officeDocument/2006/relationships/slide" Target="/ppt/slides/slide13.xml" Id="Ra70b235ccecb4447" /><Relationship Type="http://schemas.openxmlformats.org/officeDocument/2006/relationships/slide" Target="/ppt/slides/slide14.xml" Id="R3621c663ec0149e8" /><Relationship Type="http://schemas.openxmlformats.org/officeDocument/2006/relationships/slide" Target="/ppt/slides/slide15.xml" Id="R064f3648e90a4c87" /><Relationship Type="http://schemas.openxmlformats.org/officeDocument/2006/relationships/slide" Target="/ppt/slides/slide16.xml" Id="R430add01327d440e" /><Relationship Type="http://schemas.openxmlformats.org/officeDocument/2006/relationships/slide" Target="/ppt/slides/slide17.xml" Id="R3a87a7a2502d42fd" /><Relationship Type="http://schemas.openxmlformats.org/officeDocument/2006/relationships/slide" Target="/ppt/slides/slide18.xml" Id="Rdd8aa14a9f5a448d" /><Relationship Type="http://schemas.openxmlformats.org/officeDocument/2006/relationships/slide" Target="/ppt/slides/slide19.xml" Id="Rcfc9947fbbc3426f" /><Relationship Type="http://schemas.openxmlformats.org/officeDocument/2006/relationships/slide" Target="/ppt/slides/slide20.xml" Id="R79c89192f51a4839" /><Relationship Type="http://schemas.openxmlformats.org/officeDocument/2006/relationships/slide" Target="/ppt/slides/slide21.xml" Id="R994c80c07c3b41fe" /><Relationship Type="http://schemas.openxmlformats.org/officeDocument/2006/relationships/slide" Target="/ppt/slides/slide22.xml" Id="R079f4478f7094bfe" /><Relationship Type="http://schemas.openxmlformats.org/officeDocument/2006/relationships/slide" Target="/ppt/slides/slide23.xml" Id="Rffe09e1d56a74889" /><Relationship Type="http://schemas.openxmlformats.org/officeDocument/2006/relationships/slide" Target="/ppt/slides/slide24.xml" Id="R63ddf983a97f4e96" /><Relationship Type="http://schemas.openxmlformats.org/officeDocument/2006/relationships/slide" Target="/ppt/slides/slide25.xml" Id="Rb1eb342c7afe4e13" /><Relationship Type="http://schemas.openxmlformats.org/officeDocument/2006/relationships/slide" Target="/ppt/slides/slide26.xml" Id="R648f7156f9bd4ea0" /><Relationship Type="http://schemas.openxmlformats.org/officeDocument/2006/relationships/slide" Target="/ppt/slides/slide27.xml" Id="R52ce896c03c34453" /><Relationship Type="http://schemas.openxmlformats.org/officeDocument/2006/relationships/slide" Target="/ppt/slides/slide28.xml" Id="Rff9b3480233942e2" /><Relationship Type="http://schemas.openxmlformats.org/officeDocument/2006/relationships/slide" Target="/ppt/slides/slide29.xml" Id="R14092e244e8748b1" /><Relationship Type="http://schemas.openxmlformats.org/officeDocument/2006/relationships/slide" Target="/ppt/slides/slide30.xml" Id="R993f62b2640c42ff" /><Relationship Type="http://schemas.openxmlformats.org/officeDocument/2006/relationships/slide" Target="/ppt/slides/slide31.xml" Id="Refee3003fbaa4471" /><Relationship Type="http://schemas.openxmlformats.org/officeDocument/2006/relationships/slide" Target="/ppt/slides/slide32.xml" Id="R437500de13244b54" /><Relationship Type="http://schemas.openxmlformats.org/officeDocument/2006/relationships/slide" Target="/ppt/slides/slide33.xml" Id="Rda2c7a0f9c344273" /><Relationship Type="http://schemas.openxmlformats.org/officeDocument/2006/relationships/slide" Target="/ppt/slides/slide34.xml" Id="Rae461f38c8744291" /><Relationship Type="http://schemas.openxmlformats.org/officeDocument/2006/relationships/slide" Target="/ppt/slides/slide35.xml" Id="R97b2fa1e0aa04db3" /><Relationship Type="http://schemas.openxmlformats.org/officeDocument/2006/relationships/slide" Target="/ppt/slides/slide36.xml" Id="Re4cbe0b31a604a71" /><Relationship Type="http://schemas.openxmlformats.org/officeDocument/2006/relationships/slide" Target="/ppt/slides/slide37.xml" Id="R15fdb6ef27bd4d22" /><Relationship Type="http://schemas.openxmlformats.org/officeDocument/2006/relationships/slide" Target="/ppt/slides/slide38.xml" Id="Re86209273117477b" /><Relationship Type="http://schemas.openxmlformats.org/officeDocument/2006/relationships/slide" Target="/ppt/slides/slide39.xml" Id="R548332a0a8334678" /><Relationship Type="http://schemas.openxmlformats.org/officeDocument/2006/relationships/slide" Target="/ppt/slides/slide40.xml" Id="Rbec949a9d16f4397" /><Relationship Type="http://schemas.openxmlformats.org/officeDocument/2006/relationships/slide" Target="/ppt/slides/slide41.xml" Id="Rad4a9379b4d04469" /><Relationship Type="http://schemas.openxmlformats.org/officeDocument/2006/relationships/slide" Target="/ppt/slides/slide42.xml" Id="Rbac014aad66d4de8" /><Relationship Type="http://schemas.openxmlformats.org/officeDocument/2006/relationships/slide" Target="/ppt/slides/slide43.xml" Id="R2f0028d230b64835" /><Relationship Type="http://schemas.openxmlformats.org/officeDocument/2006/relationships/slide" Target="/ppt/slides/slide44.xml" Id="R16a4617770564b7f" /><Relationship Type="http://schemas.openxmlformats.org/officeDocument/2006/relationships/slide" Target="/ppt/slides/slide45.xml" Id="R98d17b0358e44c4b" /><Relationship Type="http://schemas.openxmlformats.org/officeDocument/2006/relationships/slide" Target="/ppt/slides/slide46.xml" Id="R5eedc8e61fce4d77" /><Relationship Type="http://schemas.openxmlformats.org/officeDocument/2006/relationships/slide" Target="/ppt/slides/slide47.xml" Id="Ra9d91b1702184a87" /><Relationship Type="http://schemas.openxmlformats.org/officeDocument/2006/relationships/slide" Target="/ppt/slides/slide48.xml" Id="R363d3d9f77af45e5" /><Relationship Type="http://schemas.openxmlformats.org/officeDocument/2006/relationships/slide" Target="/ppt/slides/slide49.xml" Id="Rbcbea006d6804c63" /><Relationship Type="http://schemas.openxmlformats.org/officeDocument/2006/relationships/slide" Target="/ppt/slides/slide50.xml" Id="Rbc4e42cc68aa41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df8db1714e4c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5ad86ad701471e" /><Relationship Type="http://schemas.openxmlformats.org/officeDocument/2006/relationships/notesMaster" Target="/ppt/notesMasters/notesMaster1.xml" Id="R0bf4dbeb8e5e45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de71ede8db4e97" /><Relationship Type="http://schemas.openxmlformats.org/officeDocument/2006/relationships/notesMaster" Target="/ppt/notesMasters/notesMaster1.xml" Id="Rf4da56b074a5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848a6a6c854085" /><Relationship Type="http://schemas.openxmlformats.org/officeDocument/2006/relationships/notesMaster" Target="/ppt/notesMasters/notesMaster1.xml" Id="R45d7bed1676b4d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597d46379b4e7b" /><Relationship Type="http://schemas.openxmlformats.org/officeDocument/2006/relationships/notesMaster" Target="/ppt/notesMasters/notesMaster1.xml" Id="R5f5ce90d7b6247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736bb6baab44c3" /><Relationship Type="http://schemas.openxmlformats.org/officeDocument/2006/relationships/notesMaster" Target="/ppt/notesMasters/notesMaster1.xml" Id="R9da19b1f227443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94bad8365e41ba" /><Relationship Type="http://schemas.openxmlformats.org/officeDocument/2006/relationships/notesMaster" Target="/ppt/notesMasters/notesMaster1.xml" Id="Rf0b28af2d2da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97bbc8e01c4924" /><Relationship Type="http://schemas.openxmlformats.org/officeDocument/2006/relationships/notesMaster" Target="/ppt/notesMasters/notesMaster1.xml" Id="R43732c2e3cdc44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5f24b24801426b" /><Relationship Type="http://schemas.openxmlformats.org/officeDocument/2006/relationships/notesMaster" Target="/ppt/notesMasters/notesMaster1.xml" Id="R27258de0422548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561ea4db3842bc" /><Relationship Type="http://schemas.openxmlformats.org/officeDocument/2006/relationships/notesMaster" Target="/ppt/notesMasters/notesMaster1.xml" Id="R21eb9fc41e4847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3c9410cdc542cc" /><Relationship Type="http://schemas.openxmlformats.org/officeDocument/2006/relationships/notesMaster" Target="/ppt/notesMasters/notesMaster1.xml" Id="Rec9f95c78e9149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f1e81da3d94e3c" /><Relationship Type="http://schemas.openxmlformats.org/officeDocument/2006/relationships/notesMaster" Target="/ppt/notesMasters/notesMaster1.xml" Id="R98a63ccd51de43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c280bfee0644e1" /><Relationship Type="http://schemas.openxmlformats.org/officeDocument/2006/relationships/notesMaster" Target="/ppt/notesMasters/notesMaster1.xml" Id="R986ca059344d46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8b0cbf9ae342c6" /><Relationship Type="http://schemas.openxmlformats.org/officeDocument/2006/relationships/notesMaster" Target="/ppt/notesMasters/notesMaster1.xml" Id="R4c0504cc7b6146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2d77ab030f42f6" /><Relationship Type="http://schemas.openxmlformats.org/officeDocument/2006/relationships/notesMaster" Target="/ppt/notesMasters/notesMaster1.xml" Id="Rbaa0c86e2e544b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b6231cb3e948b3" /><Relationship Type="http://schemas.openxmlformats.org/officeDocument/2006/relationships/notesMaster" Target="/ppt/notesMasters/notesMaster1.xml" Id="R7a360abaadbd46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f7742fda284e0b" /><Relationship Type="http://schemas.openxmlformats.org/officeDocument/2006/relationships/notesMaster" Target="/ppt/notesMasters/notesMaster1.xml" Id="Rcee7bbcb85314b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516726321e43f8" /><Relationship Type="http://schemas.openxmlformats.org/officeDocument/2006/relationships/notesMaster" Target="/ppt/notesMasters/notesMaster1.xml" Id="R530b846c15b94b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3d291c979c4226" /><Relationship Type="http://schemas.openxmlformats.org/officeDocument/2006/relationships/notesMaster" Target="/ppt/notesMasters/notesMaster1.xml" Id="R8010672358d642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bc7cc135d54ef5" /><Relationship Type="http://schemas.openxmlformats.org/officeDocument/2006/relationships/notesMaster" Target="/ppt/notesMasters/notesMaster1.xml" Id="R6abc2bab9fbb40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f4a56561e74246" /><Relationship Type="http://schemas.openxmlformats.org/officeDocument/2006/relationships/notesMaster" Target="/ppt/notesMasters/notesMaster1.xml" Id="Rcd6593c986b84a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cda5a88ac9b4108" /><Relationship Type="http://schemas.openxmlformats.org/officeDocument/2006/relationships/notesMaster" Target="/ppt/notesMasters/notesMaster1.xml" Id="Rc6e6996189504f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cacae1b4a646cc" /><Relationship Type="http://schemas.openxmlformats.org/officeDocument/2006/relationships/notesMaster" Target="/ppt/notesMasters/notesMaster1.xml" Id="R0e9fad4072b94b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0ea20e427d4470" /><Relationship Type="http://schemas.openxmlformats.org/officeDocument/2006/relationships/notesMaster" Target="/ppt/notesMasters/notesMaster1.xml" Id="R54fa6dddd6b84a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c2cc223117427c" /><Relationship Type="http://schemas.openxmlformats.org/officeDocument/2006/relationships/notesMaster" Target="/ppt/notesMasters/notesMaster1.xml" Id="Rb8da38cef5dd483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67d43adaf94e83" /><Relationship Type="http://schemas.openxmlformats.org/officeDocument/2006/relationships/notesMaster" Target="/ppt/notesMasters/notesMaster1.xml" Id="Re1dac91f437e45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7c408ee8cd4867" /><Relationship Type="http://schemas.openxmlformats.org/officeDocument/2006/relationships/notesMaster" Target="/ppt/notesMasters/notesMaster1.xml" Id="R4b76e3aedbd54d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5f2d7d0739b47c2" /><Relationship Type="http://schemas.openxmlformats.org/officeDocument/2006/relationships/notesMaster" Target="/ppt/notesMasters/notesMaster1.xml" Id="Rcc0d8deb583f49c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71011b1cfd44a59" /><Relationship Type="http://schemas.openxmlformats.org/officeDocument/2006/relationships/notesMaster" Target="/ppt/notesMasters/notesMaster1.xml" Id="R4e4816b345d64ad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125ad1ebb61453d" /><Relationship Type="http://schemas.openxmlformats.org/officeDocument/2006/relationships/notesMaster" Target="/ppt/notesMasters/notesMaster1.xml" Id="R856c3c312069401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e5ccc3d5bd4057" /><Relationship Type="http://schemas.openxmlformats.org/officeDocument/2006/relationships/notesMaster" Target="/ppt/notesMasters/notesMaster1.xml" Id="R162b3e9e1f0045e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729b17cce0740a0" /><Relationship Type="http://schemas.openxmlformats.org/officeDocument/2006/relationships/notesMaster" Target="/ppt/notesMasters/notesMaster1.xml" Id="R9cfdcb533dd648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4cc2c1e2df4708" /><Relationship Type="http://schemas.openxmlformats.org/officeDocument/2006/relationships/notesMaster" Target="/ppt/notesMasters/notesMaster1.xml" Id="R5a77180f3dbc4a2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478e765936042bd" /><Relationship Type="http://schemas.openxmlformats.org/officeDocument/2006/relationships/notesMaster" Target="/ppt/notesMasters/notesMaster1.xml" Id="R5d1fc262ce25481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1f77c8bfd2641e6" /><Relationship Type="http://schemas.openxmlformats.org/officeDocument/2006/relationships/notesMaster" Target="/ppt/notesMasters/notesMaster1.xml" Id="R2dc15a522123497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92595d5c6fe4ab1" /><Relationship Type="http://schemas.openxmlformats.org/officeDocument/2006/relationships/notesMaster" Target="/ppt/notesMasters/notesMaster1.xml" Id="R216669b7e7ef434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ad07e84859b4af9" /><Relationship Type="http://schemas.openxmlformats.org/officeDocument/2006/relationships/notesMaster" Target="/ppt/notesMasters/notesMaster1.xml" Id="Raffc63d54ae6486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c48bc87cca94114" /><Relationship Type="http://schemas.openxmlformats.org/officeDocument/2006/relationships/notesMaster" Target="/ppt/notesMasters/notesMaster1.xml" Id="R79318961ba26404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40e46058f89472b" /><Relationship Type="http://schemas.openxmlformats.org/officeDocument/2006/relationships/notesMaster" Target="/ppt/notesMasters/notesMaster1.xml" Id="R20f398d41c3b4bb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72a034d2f2e456f" /><Relationship Type="http://schemas.openxmlformats.org/officeDocument/2006/relationships/notesMaster" Target="/ppt/notesMasters/notesMaster1.xml" Id="Rc174087b09b745b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92186a280444d4e" /><Relationship Type="http://schemas.openxmlformats.org/officeDocument/2006/relationships/notesMaster" Target="/ppt/notesMasters/notesMaster1.xml" Id="Rdfaeb31c78514b0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6459a1075894e6c" /><Relationship Type="http://schemas.openxmlformats.org/officeDocument/2006/relationships/notesMaster" Target="/ppt/notesMasters/notesMaster1.xml" Id="R4c90c94395c3422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5d7476ced084137" /><Relationship Type="http://schemas.openxmlformats.org/officeDocument/2006/relationships/notesMaster" Target="/ppt/notesMasters/notesMaster1.xml" Id="R54b1328537d8457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18b3b2d62a6422f" /><Relationship Type="http://schemas.openxmlformats.org/officeDocument/2006/relationships/notesMaster" Target="/ppt/notesMasters/notesMaster1.xml" Id="R8f252208c5cb492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430977c4f9e4825" /><Relationship Type="http://schemas.openxmlformats.org/officeDocument/2006/relationships/notesMaster" Target="/ppt/notesMasters/notesMaster1.xml" Id="R20663788609c459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d87692996c54790" /><Relationship Type="http://schemas.openxmlformats.org/officeDocument/2006/relationships/notesMaster" Target="/ppt/notesMasters/notesMaster1.xml" Id="Rdaa72f829159415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e786b61a2914018" /><Relationship Type="http://schemas.openxmlformats.org/officeDocument/2006/relationships/notesMaster" Target="/ppt/notesMasters/notesMaster1.xml" Id="R206ed99765cc4db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f802797ed924fe0" /><Relationship Type="http://schemas.openxmlformats.org/officeDocument/2006/relationships/notesMaster" Target="/ppt/notesMasters/notesMaster1.xml" Id="R815fa97c1701452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6978521813d4838" /><Relationship Type="http://schemas.openxmlformats.org/officeDocument/2006/relationships/notesMaster" Target="/ppt/notesMasters/notesMaster1.xml" Id="R0b2e3f44d20b4d1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b72154472964f99" /><Relationship Type="http://schemas.openxmlformats.org/officeDocument/2006/relationships/notesMaster" Target="/ppt/notesMasters/notesMaster1.xml" Id="R84b16393f892452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19d022165124fb2" /><Relationship Type="http://schemas.openxmlformats.org/officeDocument/2006/relationships/notesMaster" Target="/ppt/notesMasters/notesMaster1.xml" Id="R9776c97bf73f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literature review of game theory for poisoning attacks in federated learning. This deck introduces concepts before analyzing five representative papers.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synthesized from Sagduyu, Erpek, and Shi (2023), arXiv:2312.17164; Jia et al. (2023), FedGame, NeurIPS 2023; Li et al. (2024), arXiv:2410.17431.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for the literature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game-theory framing. Application-specific examples follow the reviewed FL papers.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glossary used throughout the deck. Paper-specific instantiations are cited in the later case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Applied examples: Sagduyu et al. use attacker poisoning probabilities and server admission probabilities. FedGame uses attacker poisoning ratio and trigger; Meta Stackelberg uses defense and attack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FedGame explicitly represents this trade-off in its attacker objective with a genuine score term and a poisoning-ratio term. Jia et al. (2023), Eq.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 define attack type using objective, method, and configuration, then model a domain of types with a prior distribution Q. arXiv:2410.17431, Sec. 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analyze Nash equilibrium. Li et al. define a Bayesian Stackelberg Markov game with one state transition per FL 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representations connected to reviewed papers. The Shapley row is used only as a contribution-valuation lens, not an attacker-defender equilibrium.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Terminology tied to Sagduyu et al. (Nash), Jia et al. (minimax), and Li et al. (Bayesian and meta-Stackelberg).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FedGame defines TA and ASR explicitly and reports genuine-score computation cost. Meta Stackelberg reports clean global accuracy and backdoor accuracy. Sagduyu et al. use classification accuracy and utilities.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Sagduyu et al. (2023), Jia et al. (2023), Li et al. (2024), Behera and Chakraborty (2024), Dong et al. (2026).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Sagduyu, Erpek, and Shi, Securing NextG Systems against Poisoning Attacks on Federated Learning: A Game-Theoretic Solution, arXiv:2312.17164, Secs. II-III.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(2023), Secs. IV-V, Eq. 1 and the definitions of p, q, i, m, and U_{k|i}.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(2023), Eqs. 20-21. The attacker utility includes the negative FL reward and poisoning cost; the defender utility includes FL reward and admission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(2023), Secs. IV-V, Eqs. 5-19 and Eqs. 22-24. KKT conditions are used for the two-client constrained probabilities; best responses define the n-client Nash equilibrium.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Sagduyu et al. (2023), Figs. 4-6 and Sec. V. The final sentence is an interpretation of the paper's deliberately compact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al., FedGame: A Game-Theoretic Defense against Backdoor Attacks in Federated Learning, NeurIPS 2023, Abstract and Sec.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Sec. 4.1, Eqs. 1-2. The auxiliary model construction and use of trigger reverse engineering are detailed in Sec. 4.2.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Sec. 4.1, Eqs. 3-5. The attacker objective explicitly includes the trade-off term lambda sum_i r_i^t.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Sec. 4.2. The paper uses Neural Cleanse in its experiments, but the framework is stated to be compatible with other trigger reverse-engineering methods.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Sec. 4.3. This is an approximate attacker solution because the attacker does not observe the defender's inferred trigger or scores for benign clients.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 et al. (2023), Secs. 6.1-6.3. Metrics are defined in Sec. 6.1. Computation cost is reported in Sec. 6.2. Do not generalize the measured runtime beyond the stated hardware and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al., Meta Stackelberg Game: Robust Federated Learning against Adaptive and Mixed Poisoning Attacks, arXiv:2410.17431, Fig. 1 and Sec. 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II-A(d), definition of attack type and attack domain.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II-A, Bayesian Stackelberg Markov game tuple and bullet definitions. The paper writes the tuple as &lt;S, A_D, A_ξ, T, r, gamma, H&gt;.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III-B, Definitions 1 and 2. The distinction between BSE and meta-SE is the online adaptation of the defender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III-C and Algorithm 1. The paper calls its two-timescale policy-gradient method meta-Stackelberg learning and describes a Reptile meta-SL variant.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Sec. IV and Table 2. The practical boundary follows the paper's explicit white-box, gray-box, and black-box evaluations and online reward-estimation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Chakraborty, pFedGame - Decentralized Federated Learning using Game Theory in Dynamic Topology, arXiv:2410.04058, Abstract and Secs. I-III.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 (2024), Sec. III-A, Eq. 1. H is an accuracy function, M(c) is peer c's model, and D(x) is node x's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 (2024), Sec. III-B, Eqs. 3-4. The paper's stated terminology is 'two player constant sum cooperative game.'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 (2024), Algorithm 1 and Sec. III-C. Parameters delta, beta, and r control the local weight 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Behera and Chakraborty (2024), Sec. IV and Tables II-III. The interpretation distinguishes pFedGame's aggregation objective from adversarial attack-defense games.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Dong et al., FORCE: Byzantine-Resilient Decentralized Federated Learning via Game-Theoretic Contribution Aggregation, IEEE TIFS 21 (2026), DOI:10.1109/TIFS.2026.3674690. Public abstract and publication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Shapley-value intuition. FORCE-specific claim derives from Dong et al. (2026) public abstract, DOI:10.1109/TIFS.2026.3674690.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Dong et al. (2026), public abstract via IEEE-linked publication record. This slide limits claims to the published abstract description; it does not infer undisclosed algorithmic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Dong et al. (2026), public abstract. The abstract explicitly states that FORCE- approximates Shapley computation to lower overhead as neighboring clients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Dong et al. (2026), public abstract and bibliographic record. The boundary is stated explicitly to prevent unsupported reconstruction of the closed full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based on the methods described in the cited papers. FORCE details remain restricted to public abstract-level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based on the reviewed papers. It avoids treating all uses of game theory in FL and DFL as the same modeling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Methodological checklist synthesized for literature review. It is used to compare the case studies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of the reviewed literature. This literature review intentionally does not select a final thesis formulation.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Bibliographic references. The FORCE paper is included from public bibliographic metadata and abstract; confirm full-text details before formal citation or reproduction.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41a3427014c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ad84928bb44414" /><Relationship Type="http://schemas.openxmlformats.org/officeDocument/2006/relationships/slideLayout" Target="/ppt/slideLayouts/slideLayout1.xml" Id="R9e57a497c4a4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7a497c4a4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7bcb3e1074424" /><Relationship Type="http://schemas.openxmlformats.org/officeDocument/2006/relationships/notesSlide" Target="/ppt/notesSlides/notesSlide1.xml" Id="Rfa38ee7d23554f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2031b361c4d02" /><Relationship Type="http://schemas.openxmlformats.org/officeDocument/2006/relationships/notesSlide" Target="/ppt/notesSlides/notesSlide2.xml" Id="R80d323e3a48c4c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6a0dcf7d44c69" /><Relationship Type="http://schemas.openxmlformats.org/officeDocument/2006/relationships/notesSlide" Target="/ppt/notesSlides/notesSlide3.xml" Id="R7213d580013642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738e8051c4168" /><Relationship Type="http://schemas.openxmlformats.org/officeDocument/2006/relationships/notesSlide" Target="/ppt/notesSlides/notesSlide4.xml" Id="Rf0d0b3a8806240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48ce96ad745b6" /><Relationship Type="http://schemas.openxmlformats.org/officeDocument/2006/relationships/notesSlide" Target="/ppt/notesSlides/notesSlide5.xml" Id="R6f27c0a312eb4b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c1843c3a84ca4" /><Relationship Type="http://schemas.openxmlformats.org/officeDocument/2006/relationships/notesSlide" Target="/ppt/notesSlides/notesSlide6.xml" Id="R48df64ca463a41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3dd5c559f4e21" /><Relationship Type="http://schemas.openxmlformats.org/officeDocument/2006/relationships/notesSlide" Target="/ppt/notesSlides/notesSlide7.xml" Id="R9924cd6d60b44b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5d77cc2984794" /><Relationship Type="http://schemas.openxmlformats.org/officeDocument/2006/relationships/notesSlide" Target="/ppt/notesSlides/notesSlide8.xml" Id="R505417d32693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303823def4633" /><Relationship Type="http://schemas.openxmlformats.org/officeDocument/2006/relationships/notesSlide" Target="/ppt/notesSlides/notesSlide9.xml" Id="Ra0ea33e088f04f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cef22d411482a" /><Relationship Type="http://schemas.openxmlformats.org/officeDocument/2006/relationships/notesSlide" Target="/ppt/notesSlides/notesSlide10.xml" Id="R13d848be57934b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50214687f4b14" /><Relationship Type="http://schemas.openxmlformats.org/officeDocument/2006/relationships/notesSlide" Target="/ppt/notesSlides/notesSlide11.xml" Id="R9c82f851311740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a9c410bd8436c" /><Relationship Type="http://schemas.openxmlformats.org/officeDocument/2006/relationships/notesSlide" Target="/ppt/notesSlides/notesSlide12.xml" Id="R9890b238cae841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16e082ff64f10" /><Relationship Type="http://schemas.openxmlformats.org/officeDocument/2006/relationships/notesSlide" Target="/ppt/notesSlides/notesSlide13.xml" Id="Rc593aa2f5a9747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470ae309949fd" /><Relationship Type="http://schemas.openxmlformats.org/officeDocument/2006/relationships/notesSlide" Target="/ppt/notesSlides/notesSlide14.xml" Id="R070e06b6b7154f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102346b194b0f" /><Relationship Type="http://schemas.openxmlformats.org/officeDocument/2006/relationships/notesSlide" Target="/ppt/notesSlides/notesSlide15.xml" Id="Rcac687f59bad4f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fdbc6ae214a10" /><Relationship Type="http://schemas.openxmlformats.org/officeDocument/2006/relationships/notesSlide" Target="/ppt/notesSlides/notesSlide16.xml" Id="R72c0e229c2f14c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b0f93b6504c6e" /><Relationship Type="http://schemas.openxmlformats.org/officeDocument/2006/relationships/notesSlide" Target="/ppt/notesSlides/notesSlide17.xml" Id="Rb083efad537245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93c3c3c234504" /><Relationship Type="http://schemas.openxmlformats.org/officeDocument/2006/relationships/notesSlide" Target="/ppt/notesSlides/notesSlide18.xml" Id="R857a989ea89f4f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550ee2063451d" /><Relationship Type="http://schemas.openxmlformats.org/officeDocument/2006/relationships/notesSlide" Target="/ppt/notesSlides/notesSlide19.xml" Id="Recc4ff11166745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57803280e41e8" /><Relationship Type="http://schemas.openxmlformats.org/officeDocument/2006/relationships/notesSlide" Target="/ppt/notesSlides/notesSlide20.xml" Id="R13182485a636427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ac9c06c246e5" /><Relationship Type="http://schemas.openxmlformats.org/officeDocument/2006/relationships/notesSlide" Target="/ppt/notesSlides/notesSlide21.xml" Id="Rb68de216bf804b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6e5f99b5a472e" /><Relationship Type="http://schemas.openxmlformats.org/officeDocument/2006/relationships/notesSlide" Target="/ppt/notesSlides/notesSlide22.xml" Id="R37b93c4c50e749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b1ab8bc5346c9" /><Relationship Type="http://schemas.openxmlformats.org/officeDocument/2006/relationships/notesSlide" Target="/ppt/notesSlides/notesSlide23.xml" Id="R3f416ed7f82045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b5bedcba54631" /><Relationship Type="http://schemas.openxmlformats.org/officeDocument/2006/relationships/notesSlide" Target="/ppt/notesSlides/notesSlide24.xml" Id="R0e0d527e0f744c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d43fff4fa461a" /><Relationship Type="http://schemas.openxmlformats.org/officeDocument/2006/relationships/notesSlide" Target="/ppt/notesSlides/notesSlide25.xml" Id="Rdb7e697ffafe478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8d251e4af4e30" /><Relationship Type="http://schemas.openxmlformats.org/officeDocument/2006/relationships/notesSlide" Target="/ppt/notesSlides/notesSlide26.xml" Id="R28f3ff606c3947f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ce2e43cc64b9b" /><Relationship Type="http://schemas.openxmlformats.org/officeDocument/2006/relationships/notesSlide" Target="/ppt/notesSlides/notesSlide27.xml" Id="Rc07625d82d134b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86d2a1e95432a" /><Relationship Type="http://schemas.openxmlformats.org/officeDocument/2006/relationships/notesSlide" Target="/ppt/notesSlides/notesSlide28.xml" Id="Rb4efdcee9c8e48f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875a6c80a4bcd" /><Relationship Type="http://schemas.openxmlformats.org/officeDocument/2006/relationships/notesSlide" Target="/ppt/notesSlides/notesSlide29.xml" Id="R0cf403664c4a49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15dd9985e4792" /><Relationship Type="http://schemas.openxmlformats.org/officeDocument/2006/relationships/notesSlide" Target="/ppt/notesSlides/notesSlide30.xml" Id="R2982fed8f7b3444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07daf26784b1b" /><Relationship Type="http://schemas.openxmlformats.org/officeDocument/2006/relationships/notesSlide" Target="/ppt/notesSlides/notesSlide31.xml" Id="R1f4314866840435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266ad6c8e4073" /><Relationship Type="http://schemas.openxmlformats.org/officeDocument/2006/relationships/notesSlide" Target="/ppt/notesSlides/notesSlide32.xml" Id="R360219b2b0b441e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0947998b64e1c" /><Relationship Type="http://schemas.openxmlformats.org/officeDocument/2006/relationships/notesSlide" Target="/ppt/notesSlides/notesSlide33.xml" Id="R86eba64458f94f5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8d458a2ee4aed" /><Relationship Type="http://schemas.openxmlformats.org/officeDocument/2006/relationships/notesSlide" Target="/ppt/notesSlides/notesSlide34.xml" Id="R4c6138ccac8d41c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8442f6b0c4a3b" /><Relationship Type="http://schemas.openxmlformats.org/officeDocument/2006/relationships/notesSlide" Target="/ppt/notesSlides/notesSlide35.xml" Id="R0ce8160eee3c42b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6f689889444fe" /><Relationship Type="http://schemas.openxmlformats.org/officeDocument/2006/relationships/notesSlide" Target="/ppt/notesSlides/notesSlide36.xml" Id="Ra6dc302c37dc4f5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d67cd7dc94350" /><Relationship Type="http://schemas.openxmlformats.org/officeDocument/2006/relationships/notesSlide" Target="/ppt/notesSlides/notesSlide37.xml" Id="Rcbe1f0f044db46c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a8e9f95d44117" /><Relationship Type="http://schemas.openxmlformats.org/officeDocument/2006/relationships/notesSlide" Target="/ppt/notesSlides/notesSlide38.xml" Id="R8229c0778a7947f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8a19ae87546d5" /><Relationship Type="http://schemas.openxmlformats.org/officeDocument/2006/relationships/notesSlide" Target="/ppt/notesSlides/notesSlide39.xml" Id="Rf2fea7227829418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59d13720942aa" /><Relationship Type="http://schemas.openxmlformats.org/officeDocument/2006/relationships/notesSlide" Target="/ppt/notesSlides/notesSlide40.xml" Id="R4fe61d6f079f442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5f5ee6d674484" /><Relationship Type="http://schemas.openxmlformats.org/officeDocument/2006/relationships/notesSlide" Target="/ppt/notesSlides/notesSlide41.xml" Id="Rbb1149797644417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caefc9b89491d" /><Relationship Type="http://schemas.openxmlformats.org/officeDocument/2006/relationships/notesSlide" Target="/ppt/notesSlides/notesSlide42.xml" Id="R0ea1f8bacba544c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91884257342d4" /><Relationship Type="http://schemas.openxmlformats.org/officeDocument/2006/relationships/notesSlide" Target="/ppt/notesSlides/notesSlide43.xml" Id="R7e6f8ccf0a6948a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9dbb03f334e45" /><Relationship Type="http://schemas.openxmlformats.org/officeDocument/2006/relationships/notesSlide" Target="/ppt/notesSlides/notesSlide44.xml" Id="Raed6918c5f7949f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b8054c0e406a" /><Relationship Type="http://schemas.openxmlformats.org/officeDocument/2006/relationships/notesSlide" Target="/ppt/notesSlides/notesSlide45.xml" Id="Rc0104e9a0bbb42c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bf83052bc4dfd" /><Relationship Type="http://schemas.openxmlformats.org/officeDocument/2006/relationships/notesSlide" Target="/ppt/notesSlides/notesSlide46.xml" Id="R5df784e1af904de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899d785a44375" /><Relationship Type="http://schemas.openxmlformats.org/officeDocument/2006/relationships/notesSlide" Target="/ppt/notesSlides/notesSlide47.xml" Id="Re35dc89e3eab4a4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2bed17a8e4f21" /><Relationship Type="http://schemas.openxmlformats.org/officeDocument/2006/relationships/notesSlide" Target="/ppt/notesSlides/notesSlide48.xml" Id="R057c8f54568a4b1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5b0a5450d42eb" /><Relationship Type="http://schemas.openxmlformats.org/officeDocument/2006/relationships/notesSlide" Target="/ppt/notesSlides/notesSlide49.xml" Id="Rf8022686ea04404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0587adee84c76" /><Relationship Type="http://schemas.openxmlformats.org/officeDocument/2006/relationships/notesSlide" Target="/ppt/notesSlides/notesSlide50.xml" Id="R28b48c2d0b2442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47736-7E47-4197-BD9C-98A886B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6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21DD6-B72B-4F97-93AC-6EFE4A10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Game Theory for Modeling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Poisoning Attacks in Federated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BB4C6-3E5E-4E9D-97D8-8B5B392E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1725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Concepts, game families, evaluation metrics, and detailed paper studies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2524B-4AB2-46B1-9F26-0AF0B7EA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AD0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B8CAD0"/>
                </a:solidFill>
                <a:latin typeface="Fira Sans"/>
                <a:ea typeface="Fira Sans"/>
                <a:cs typeface="Fira Sans"/>
              </a:rPr>
              <a:t>Literature review presentation</a:t>
            </a:r>
          </a:p>
        </p:txBody>
      </p:sp>
    </p:spTree>
    <p:extLst>
      <p:ext uri="{BB962C8B-B14F-4D97-AF65-F5344CB8AC3E}">
        <p14:creationId xmlns:p14="http://schemas.microsoft.com/office/powerpoint/2010/main" val="432561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150B7-BADC-427B-AB79-A2073BAA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Strategic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605C6-4554-405E-942D-C6FD8AEF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89F8C-5B0B-4B2A-BB32-E9E0BF1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A3758-0443-4F6D-96A2-DDC4BF3F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Poisoning can involve deliberate adaptation: an attacker chooses how to harm learning while a defender chooses how to respond.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5247C-7AAF-4B27-86F3-C620FF78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F5D14-9B32-448B-8F65-8D2955D4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3F969-01F4-4E70-AFA7-E0F07331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Target, poisoning ratio, trigger, timing, or how closely a malicious update resembles a benign 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A9D0C-561F-4931-BED2-50984C0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20056-68CC-4EB9-B3F8-EB9B3B1C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6AF2C-2BCF-409D-A206-494439BE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Admission, weighting, filtering, robust aggregation, post-training repair, or local isolation.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ACB80-7488-4A74-8790-254B1ECE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6B0D6-26E0-488C-9990-CD1CDCF7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Strategic interaction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B113C-CE44-4562-928A-CC3386C0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Each side anticipates how the other side may react. The payoff therefore depends on both decisions.</a:t>
            </a:r>
          </a:p>
        </p:txBody>
      </p:sp>
    </p:spTree>
    <p:extLst>
      <p:ext uri="{BB962C8B-B14F-4D97-AF65-F5344CB8AC3E}">
        <p14:creationId xmlns:p14="http://schemas.microsoft.com/office/powerpoint/2010/main" val="1973967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FFEE5-5DA6-45C4-AA6B-BB5E7323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Presentation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67F15-F932-4DEE-87C1-6CBB033A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D7896-2C51-44F3-ADA6-EE9DC5DD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9DBA8-3C45-4BEC-AFA1-AF45B11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11BD1-6AC5-4DF4-B7C3-F86B12B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I. 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89A14-C3D9-4E1F-A756-D19DC574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Game-theory vocabulary, representations, equilibria, game families, and evaluation metrics.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473A6-FA09-4A56-B967-A63A1FD6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89241-0C8D-4AE6-BF7C-70473B5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II. Detailed case studies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D0C45-D751-4B2B-8154-89CE16B3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Five papers with their research question, strategic model, solution method, experimental evidence, and boundaries.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EC697-7566-4D72-B8BF-136150CB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F3CB1-1A04-47E3-B706-39A85601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01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III.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91D86-C700-437B-8E08-97CEFA4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Which choices make the papers different, and which modeling ingredients matter for later research design.</a:t>
            </a:r>
          </a:p>
        </p:txBody>
      </p:sp>
    </p:spTree>
    <p:extLst>
      <p:ext uri="{BB962C8B-B14F-4D97-AF65-F5344CB8AC3E}">
        <p14:creationId xmlns:p14="http://schemas.microsoft.com/office/powerpoint/2010/main" val="202248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BD1BF-DC86-4A44-8E7B-47DF9AFB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What game theory contributes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CDA63-DC4D-4767-8101-AA278DA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4A78B-8633-4A30-8CC2-ED71D975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13FF3-2AB5-4453-ACAA-634491B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1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theory studies decision-making when the outcome for one actor depends on actions chosen by other actors.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69653-9C40-465B-9D92-768B1F00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DESCRIPTIVE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5034E-95E8-4B8D-9B16-3F226EE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Explain what rational actors may do under stated incentives and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B2B89-877C-487F-8316-10A29B5D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ANALYTICAL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B18F3-E7B3-417C-B361-05301401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Derive equilibrium, best response, or a bound that connects choices with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704C2-F1AC-4717-838B-E74828D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DESIGN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658CA-3E9D-4650-8F09-74334EA7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4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Construct a defense policy that accounts for an adaptive attacker instead of a fixed attack.</a:t>
            </a:r>
          </a:p>
        </p:txBody>
      </p:sp>
    </p:spTree>
    <p:extLst>
      <p:ext uri="{BB962C8B-B14F-4D97-AF65-F5344CB8AC3E}">
        <p14:creationId xmlns:p14="http://schemas.microsoft.com/office/powerpoint/2010/main" val="6389037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221CC-BCE2-4D75-84E0-FD4E1F2D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Modeling vocabulary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D4B1D-4F9D-4485-A3CA-E6FDC54A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3BAEB-A6D4-4BBF-A678-5AB4F589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27564"/>
                <a:gridCol w="3657600"/>
                <a:gridCol w="4987636"/>
              </a:tblGrid>
              <a:tr h="6504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Poisoning example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Entity that chooses 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Attacker, server, receiving node, or client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Feasible choice at a decision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Poison ratio; accept, reject, reweight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Strategy / policy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Rule mapping information to an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Score an update and select aggregation weight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Utility / payoff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Numerical preference over outcomes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Clean accuracy, ASR, effort, false-positive cost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Private characteristic that may alter behavior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 family, target, attacker knowledge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Information that evolves across rounds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Current global model and defense history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811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B12FC-CB74-41E7-8B60-6DA0B12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Players, actions, and strategies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C2126-94BE-4CAB-9B7A-6CDE0BB0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148C9-5B3D-48DC-967D-DCCEC475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BB33C-6D3A-4BED-9E13-58B3A88E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7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game model starts with a precise question: who can choose what, at which time, based on which observations?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C7D9B-869A-4826-AB6C-4DA203C7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PLAYERS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1C137-382D-44B8-867A-E17D8D4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7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Defender and attacker in adversarial FL; local model and aggregate model in pFedGame.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84EBC-057B-449D-8A1D-87266710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24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ACTION 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7EF6C-1EBD-49E8-BF64-3C584D9D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81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6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feasible decision variables, such as a poisoning ratio r or an aggregation rule Aggr.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0792F-6CC6-4D3E-A909-DCCE6A4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5F03A-3CE2-4CCB-9BAC-E0FD3612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81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108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 complete contingent rule. In a repeated setting, it maps observed history or state to an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42E9F-2300-4CEE-BE5B-E43DD512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paper can call an algorithm “game-theoretic” only after these decision variables and their connection to outcomes are made explicit.</a:t>
            </a:r>
          </a:p>
        </p:txBody>
      </p:sp>
    </p:spTree>
    <p:extLst>
      <p:ext uri="{BB962C8B-B14F-4D97-AF65-F5344CB8AC3E}">
        <p14:creationId xmlns:p14="http://schemas.microsoft.com/office/powerpoint/2010/main" val="1407759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C09A7-F629-41EA-A442-D0A466CA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Utility functions and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4DC6E-C242-4D28-B40B-F4146B66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BE7E2-ED30-4B73-9E89-8BDCA9FC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98F7B-5958-4037-86BC-18DDF13C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The utility function turns a qualitative objective into a quantity that a player seeks to maximize or minimize.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6EB4E-9685-48E0-8DAF-D35AAB66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B2602-926F-41BD-B939-E1154288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utility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213AD-7601-4D08-B6F8-FD80C10D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Usually rewards clean-task performance and penalizes poisoning impact, false positives, communication, or computation.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DF348-54E4-4AF7-B234-FFC711E6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FFF89-7DEC-44B3-82F0-C6227B1C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utility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EE28F-1445-4861-8179-DF1FB86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Usually rewards damage or backdoor success and can penalize attack effort, detection, or isolation.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3CDE4-002F-44C3-918F-04AC8D9B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Example trade-off: increasing a backdoor poisoning ratio can increase attack strength while making the local model easier to identify.</a:t>
            </a:r>
          </a:p>
        </p:txBody>
      </p:sp>
    </p:spTree>
    <p:extLst>
      <p:ext uri="{BB962C8B-B14F-4D97-AF65-F5344CB8AC3E}">
        <p14:creationId xmlns:p14="http://schemas.microsoft.com/office/powerpoint/2010/main" val="1346583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B7862-3E1E-4515-8864-1689BEAC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Information, beliefs, and hidden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88066-19D7-47D6-A951-0D6FDDD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DF402-8A4C-4040-9D38-7096B3F6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802AC-0A34-4843-8BA1-C7EB0306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1D580-5E22-432B-B46A-9D89C88C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335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Complete information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D301F-0867-434B-BAE4-E7E71E1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Both sides know the payoff-relevant model and action sets. This assumption simplifies analysis but rarely holds fully in FL.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74466-5512-4407-B064-3C8305A0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7EA36-5CC2-45F0-ADAE-2135357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335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Incomplete information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B86B8-9255-43ED-940A-D8F3EEF2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defender may not know client identity, attacker objective, poison ratio, trigger, or attack family.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4424A-5A85-4431-91D2-D7F6AB22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BDC49-954B-422D-85FB-40DF45B8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Belief over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B7332-03BA-464C-813C-EFE59608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963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Bayesian model represents uncertainty with a distribution over possible attacker types. New observations can guide adaptation.</a:t>
            </a:r>
          </a:p>
        </p:txBody>
      </p:sp>
    </p:spTree>
    <p:extLst>
      <p:ext uri="{BB962C8B-B14F-4D97-AF65-F5344CB8AC3E}">
        <p14:creationId xmlns:p14="http://schemas.microsoft.com/office/powerpoint/2010/main" val="284025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87259-9C8E-463A-9CFA-115735AF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Timing and state transitions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CE523-A254-442E-A073-5BE00577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71293-B6E7-4A89-9EFF-51FF170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C42EF-FB4B-453C-A7B2-ECD6B46C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One-shot and multi-round games answer different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AD05D-F8AC-4EF0-AAA4-7E16768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CC205-3564-4741-84DC-F16F090A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Simultaneous move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90FE0-7F7F-4FF9-B28B-6E2C6A59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Players choose without first observing the other current action. Nash equilibrium is a common solution concept.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23818-5861-48FE-8AB4-50F64A69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2C98A-EF58-4136-A2A7-3866FB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Sequential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354EA-0968-4E84-AAC2-1199B48B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leader selects a policy and a follower best-responds. Stackelberg modeling requires a justified order of moves.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FB3FD-1684-4E82-9EAD-960C6AFF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9A3A2-0A3D-4862-BA6E-6B2971E8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Markov transition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073FD-F07C-4317-A69F-B2B8B2F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244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joint actions update a state, such as global parameters. Future payoffs then depend on the updated state.</a:t>
            </a:r>
          </a:p>
        </p:txBody>
      </p:sp>
    </p:spTree>
    <p:extLst>
      <p:ext uri="{BB962C8B-B14F-4D97-AF65-F5344CB8AC3E}">
        <p14:creationId xmlns:p14="http://schemas.microsoft.com/office/powerpoint/2010/main" val="1106764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44766-194F-4876-B7DA-1CED9F02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2B92F-D33A-4811-A9B0-8B192FE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79AB-4705-4447-8F99-4C5E385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0909"/>
                <a:gridCol w="3879273"/>
                <a:gridCol w="4322618"/>
              </a:tblGrid>
              <a:tr h="758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Representation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Core ingredients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Use in this review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Normal form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Players, action sets, payoffs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Compact attack-admission choices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Extensive form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Actions ordered in a decision tree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Leader-follower reasoning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Bayesian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Private types and beliefs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Unknown attacker objective or configuration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Markov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State, actions, transition, rewards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FL rounds and changing global model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Coalitional value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Value of subsets of contributors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Shapley-inspired contribution aggregation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672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19DDD-88DB-4168-91E7-F2AFC1E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Equilibrium and solution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10CB9-457D-4850-B24E-A2CCC46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9433A-2200-41CC-8E87-A8F9984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92582"/>
                <a:gridCol w="4987636"/>
                <a:gridCol w="2992582"/>
              </a:tblGrid>
              <a:tr h="758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Question answered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Best response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What action maximizes a player utility against a fixed opponent action?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 local optimal reaction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Nash equilibrium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Can any player improve alone?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No unilateral incentive to deviate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Bayesian Stackelberg equilibrium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does a leader choose under uncertainty about follower type?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Leader anticipates type-specific best responses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Meta-Stackelberg equilibrium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should a leader prepare to adapt after observing an online trajectory?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Equilibrium over an initial policy plus adaptation rule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Minimax solution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can a defender minimize an attacker-favorable objective?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Adversarial optimization for a zero-sum-like conflict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626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CD95B-003A-4CA1-AB3A-CD398B6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Evaluation metrics used in poisoning studies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7AB6F-CF97-45CD-8D62-22F5CB33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1D6E7-C008-4283-B1E3-2C89E19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92582"/>
                <a:gridCol w="4765964"/>
                <a:gridCol w="3214255"/>
              </a:tblGrid>
              <a:tr h="65042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Definition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Test accuracy (TA)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Fraction of clean test inputs classified correctly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Clean utility of the learned model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 success rate (ASR)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Fraction of trigger inputs classified as attacker target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Backdoor effectiveness; lower is better for a defense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Loss / degradation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Clean or adversarial loss, depending on attack objective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Untargeted model-poisoning damage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Genuine / trust score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Per-client score used as an aggregation weight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Separates suspicious from benign client behavior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False-positive cost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Penalty for excluding or downweighting benign contributions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Defense fairness and utility trade-off</a:t>
                      </a:r>
                    </a:p>
                  </a:txBody>
                  <a:tcPr marL="91440" marR="91440" marT="45720" marB="45720"/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Overhead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Extra computation or communication per round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Deployability at scale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2107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B0F50-55A2-44E7-8D83-DFA16495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Literature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EC5CB-71C2-443B-8647-42AEBC0D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E91A9-D282-4F5D-88A8-B03FB74A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14255"/>
                <a:gridCol w="4433455"/>
                <a:gridCol w="3325091"/>
              </a:tblGrid>
              <a:tr h="758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Game-theory mechanism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Primary question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Sagduyu et al. (2023)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Non-cooperative Nash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many clients to poison or admit?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FedGame (2023)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Minimax attack-defense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can a server resist dynamic backdoors?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Meta Stackelberg (2024)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Bayesian Stackelberg Markov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can defense adapt to uncertain, mixed attacks?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pFedGame (2024)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Two-player constant-sum cooperative weighting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should a node mix its own and peer aggregate model?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FORCE (2026)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Shapley-inspired contribution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How can DFL identify Byzantine neighbors without gradient checks?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0125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65ED1-A9E1-4B5E-941D-F6997169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20FAF-8660-4003-9FAF-2A0B345E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3DAF7-EC11-42D3-8D3F-7DCF3A37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6B26A-45A6-4E04-B9CD-07974E5A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50EAE-BADC-4515-8E7E-B9DE9064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Securing NextG Systems against Poisoning Attacks on Federated Learning</a:t>
            </a:r>
          </a:p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Sagduyu, Erpek, and Shi (2023)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E31A6-83E7-41E4-A964-8E55E3F1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8231898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6E6BC-A1EB-406D-9799-FED5380E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NextG paper: research question and setting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25CA1-9526-497A-85F6-0C0AC4E0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49436-C011-4418-B03E-CBE54253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BC289-1159-494B-9142-7CC84DA3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D2A2A-F8D2-473B-BC4B-0508B4A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F366E-F041-46D5-AB1F-B582A974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963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Federated signal classification in a NextG communication setting. Each client trains locally and sends model parameters to a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71101-ADDD-4417-8D04-4E324AA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67C78-E48B-470F-89F9-A84309E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Threat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A8596-36CF-4889-8291-C979DDA9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63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An attacker chooses clients whose training labels are poisoned. The server may admit or reject clients from aggregation.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3B45C-30F1-40EB-AB1F-1F0AE17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32A94-64B1-4413-A0D1-186CC4C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Central 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4671E-8B25-4D10-B7AD-1207E89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Rejecting clients can remove poisoned contributions, but rejecting too many also reduces useful data and carries admission cost.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AD404-0904-4DDF-88CD-FE30E71A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1CFC0-E7CB-43F2-9A57-FA9282A8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CB08C-F606-4C62-9268-C909A63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paper asks a simple question: how cautious should the server be when caution itself can hurt learning?</a:t>
            </a:r>
          </a:p>
        </p:txBody>
      </p:sp>
    </p:spTree>
    <p:extLst>
      <p:ext uri="{BB962C8B-B14F-4D97-AF65-F5344CB8AC3E}">
        <p14:creationId xmlns:p14="http://schemas.microsoft.com/office/powerpoint/2010/main" val="502968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C7CF4-5F49-49C9-944E-0AAAC6B9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NextG paper: the choices in the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29D32-8207-4909-9017-C0176CDB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AA514-45E7-48F5-B92E-F6CC1920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30E7A-C0CA-4897-8F1F-4A252BB7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ATTACKER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B93B1-0D90-4537-8EB3-14F48759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7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For two clients, p_i is the probability of attacking client i. For n clients, m is the number of poisoned clients.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27C41-AF64-46F8-9316-4D7F6E6D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DEFENDER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500A1-BBD2-40CD-85D2-E977B31A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For two clients, q_i is the probability of admitting client i. For n clients, i is the number admitted.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6F553-B91C-41BD-89BA-ABE2319E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OUTCOME STATISTIC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3975E-CE54-4018-9BA8-4616BF78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U_{k|i} denotes classification accuracy when i clients are admitted and k of them are poisoned.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495BA-EA1F-4772-8CD6-994F00F8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0FF25-010B-4F22-AB49-1E412A02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A9D62-5B37-4DC8-97DF-236DF672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0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Instead of inspecting every neural-network parameter, the model counts two decisions: how many clients are poisoned and how many are admitted.</a:t>
            </a:r>
          </a:p>
        </p:txBody>
      </p:sp>
    </p:spTree>
    <p:extLst>
      <p:ext uri="{BB962C8B-B14F-4D97-AF65-F5344CB8AC3E}">
        <p14:creationId xmlns:p14="http://schemas.microsoft.com/office/powerpoint/2010/main" val="9523090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8263B-ED34-495D-BCBA-B4F1CC14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NextG paper: why each side cares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2F31F-F481-4CCB-BE9A-C53FE862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CA769-145D-4E99-8576-BA8D8F42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D6F54-F0A1-406F-9638-67D09637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Both players value the resulting FL accuracy differently and pay their own action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3A528-AAA1-4AF6-BBDB-FAF4EC7A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A90FD-711C-4E01-8081-99494EE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4317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utility U_D(i,m)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415E8-D114-4498-A19D-1F9163EA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7025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Expected classification reward when i are admitted and some are poisoned, minus i c_D for admitting clients.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A96CC-2B06-4D32-8770-7719A4A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9880B-88A0-4953-8398-C0A050EB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4317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utility U_A(i,m)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E5DF9-40BD-4636-9164-B3C4E847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67025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Negative of the FL reward, minus m c_A for poisoning clients. Lower accuracy increases attacker utility.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A852C-BF6D-4A8F-B3A2-7F879946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71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2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500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Interpretation: the model treats admission and poisoning as costly strategic choices, rather than purely technical filters.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69CBB-DE8B-4D56-BD40-0F8B95B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1C84D-1ECF-42D0-AB28-D894D24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AE4D4-4E8E-48E5-B2F8-C82761BB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server wants good learning with enough honest clients; the attacker wants poor learning without paying too much to poison clients.</a:t>
            </a:r>
          </a:p>
        </p:txBody>
      </p:sp>
    </p:spTree>
    <p:extLst>
      <p:ext uri="{BB962C8B-B14F-4D97-AF65-F5344CB8AC3E}">
        <p14:creationId xmlns:p14="http://schemas.microsoft.com/office/powerpoint/2010/main" val="10106926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4E931-26B2-4947-86B0-D4CFC507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NextG paper: what Nash equilibrium means 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961EB-FCD3-42D7-AADA-B5D7C9AA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74811-3455-4C88-9EF4-4A81F368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6D9E7-F0BC-4E61-AAA6-F217FB5F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4DD6E-D041-4F85-A9F4-017E5A73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Two-client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DBD96-1F5A-4833-9F50-760583B3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963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writes expected utilities over attack and admission probabilities. KKT conditions characterize constrained optima for p_i and q_i.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3402B-2BD7-481A-8ABE-67110F67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E9604-B8D3-4B77-A5E6-A1CB1A8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623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n-client extension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5ECFE-EA9F-45D0-8246-AA4B9B57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It computes best responses B_A(i) = arg max_m U_A(i,m) and B_D(m) = arg max_i U_D(i,m).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2D24E-5E64-4CAE-B9A9-39E2E97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5A82C-6F5E-47A0-9BFE-0B0CAA48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Nash 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50E2C-67FE-43BE-AA75-7829AC23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An equilibrium (i*,m*) lies in the intersection of the defender and attacker best-response correspondences.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A2230-06A9-4879-9D9B-76C7F6DD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CBCBD-3A9A-4358-ACBF-7619DCB9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71594-A832-4A8F-9917-A0D2FD1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At equilibrium, neither side wants to change its own choice if it expects the other side to keep its choice unchanged.</a:t>
            </a:r>
          </a:p>
        </p:txBody>
      </p:sp>
    </p:spTree>
    <p:extLst>
      <p:ext uri="{BB962C8B-B14F-4D97-AF65-F5344CB8AC3E}">
        <p14:creationId xmlns:p14="http://schemas.microsoft.com/office/powerpoint/2010/main" val="16553922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98F72-7AED-4765-9814-5777ECA2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NextG paper: findings and modeling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5E9C8-DE28-4000-A6DD-C2FCCB84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54962-9A58-4505-B01A-19A74C3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5CE87-79C0-4424-BB7A-168FC4E5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9E71C-50D3-493A-9877-DF7E3D18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Reported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99C6A-FDA3-4FFE-ADAB-435FC8FE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963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As the total client count increases, their modeled defense utility per client decreases and attacker utility increases because poisoning opportunities grow.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D6568-886F-4270-8215-2130C48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EFD73-AC75-4DAD-9BA6-A7C5BDF8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051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Cost sensitivity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7D66D-23C0-4105-95D3-833F97DF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290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Raising attack and defense costs changes equilibrium strategies and utilities. The paper visualizes this dependence.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58F03-9C48-402D-9922-90E2553E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B1EA7-51B8-4C2F-9E22-D9A9A5B1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Lesson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54CE1-A651-4E59-9C18-D0A9673D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simple Nash model can expose an incentive trade-off, but it abstracts away client identities, rich model updates, and time-varying attacker adaptation.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FD36C-4B80-4290-B5D1-49B64E1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CD009-7B48-4988-9EFE-9143396B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7474F-41AF-44DC-ACB8-6481EE6C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This is a clean conceptual model: useful for explaining incentives, but not yet a full simulation of real FL behavior.</a:t>
            </a:r>
          </a:p>
        </p:txBody>
      </p:sp>
    </p:spTree>
    <p:extLst>
      <p:ext uri="{BB962C8B-B14F-4D97-AF65-F5344CB8AC3E}">
        <p14:creationId xmlns:p14="http://schemas.microsoft.com/office/powerpoint/2010/main" val="12902543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8A1D8-219A-4683-9AD9-A0470C06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2: FedGame (Jia et al., 2023)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E3B5-AD1B-4FC5-B9C9-B4D5DAE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E6615-11E7-4E46-85B0-8DA0F2F9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C829A-EE50-4BBE-92A5-CDE92347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2E863-8822-4B58-B6C7-BD64CF69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minimax defense against dynamic backdoor attacks in centralized FL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0D028-F66F-4E03-BA11-00F34DDB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990819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F427E-F567-4B1B-8BA4-061EE57E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threat model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46A03-3478-4DA6-83C6-1294F80B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8354B-4831-4774-8EE9-05A1B8BF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1BD16-2801-4599-AAC2-6B96CCB8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BFE6D-E5C2-4C8D-AA23-28A1E6FE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Threat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9964A-3B86-4C9C-B208-33DCBB5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Compromised FL clients inject a trigger and target label so trigger-embedded inputs are classified as the attacker's chosen class.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30AD6-21A6-48CB-9F5F-D1B3CA00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5D094-9FD5-4BB9-A52A-E1C9423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Why a game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D8A11-096C-485A-AFE2-E2ACB0F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attacker changes its poisoning ratio or trigger to remain effective; the server changes how it identifies and weights client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09865-B14B-453E-BEB1-F378299F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67057-69F8-4DE3-9807-032234F6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7C96C-44E3-4F79-9BE4-EF3975B3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Maintain clean test accuracy while lowering attack success rate against dynamic backdoor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DCA35-3D32-4417-B930-4D002B47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CC070-2585-42B0-B599-AABE1180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1FF67-E1A5-46CF-B2CD-E6A55AB0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FedGame tries to keep normal predictions correct while making the hidden trigger stop working.</a:t>
            </a:r>
          </a:p>
        </p:txBody>
      </p:sp>
    </p:spTree>
    <p:extLst>
      <p:ext uri="{BB962C8B-B14F-4D97-AF65-F5344CB8AC3E}">
        <p14:creationId xmlns:p14="http://schemas.microsoft.com/office/powerpoint/2010/main" val="11877477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702DF-F223-4D11-9C4A-33909FD8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genuine score and weighted aggregation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06990-02AA-4D66-BE28-224E0D44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B139B-2641-46F2-AF58-C01F0C5D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235F2-1A6D-43CA-BE7C-B3A536AF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 assigns each client a genuine score p_i^t and uses it as a weight in the global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F9971-B011-49DC-9931-20340B12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REVERSE-ENGINEER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43C8D-8949-410F-ACEC-5D8485E4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76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Build an auxiliary global model from all local updates, then infer a candidate trigger and target class.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CC845-A3AA-4786-A930-A66D3CE0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724A9-2A24-4118-AC3E-D18C274B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76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For each local model, measure how often trigger-embedded clean inputs receive the inferred target label.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86D88-D9B8-4A0A-A8A4-EEA9ED2C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AGGREGATE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87897-B84A-4389-B8AD-CFD70C3F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384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097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Lower p_i^t for suspicious behavior means a smaller contribution to the global model update.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BA4C0-8E3B-45A5-A781-9C6EA857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p_i^t = 1 - fraction of trigger-embedded server-clean inputs predicted as the inferred target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36A5D-2ABF-4F9B-8A50-81A4FE2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A7625-2D42-4F06-8A70-5CAD9E4A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E4970-74F0-4E50-B3F1-CAFF5C81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 low score means: this client's model behaves suspiciously when the suspected trigger is added, so trust it less in aggregation.</a:t>
            </a:r>
          </a:p>
        </p:txBody>
      </p:sp>
    </p:spTree>
    <p:extLst>
      <p:ext uri="{BB962C8B-B14F-4D97-AF65-F5344CB8AC3E}">
        <p14:creationId xmlns:p14="http://schemas.microsoft.com/office/powerpoint/2010/main" val="15310071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59A6B-79C4-4B0D-A8A7-3DFEE66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the central trade-off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BF20C-921E-46B8-830C-D6B963FC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D739D-C862-4482-93FD-2197B227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B68B1-EEC0-4771-AAE5-6CF0CFA6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120FA-DAB5-410E-A1DC-2B853FC9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variable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CAF42-6409-49B7-8D25-F1D3E188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Reverse-engineered trigger δ_re and target class y_re. The defender seeks low scores for malicious clients and high scores for benign clients.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3FF66-89D9-488A-BF2A-4F026B7D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D32D8-9D0A-40EE-A877-AC9C5E11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3BED9-4F7B-4F76-A89E-7F94902A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Per-client backdoor ratio r_i^t and trigger δ. A larger r_i^t can improve attack success but tends to reduce genuine score.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4BC80-A9A8-4E0A-BBB3-FA8C1D6B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A40B5-2065-4C8B-A11A-911F08E9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2AFF7-3D99-4987-9A15-991001B5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writes a minimax objective that combines score separation with λ times the poisoning ratios of malicious clients.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E6D5C-0276-4360-842E-203FF1F1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A40D5-D2DA-4CCF-8BC6-D9DAE27C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7ED6B-CF1B-4095-85AD-3CEFE139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attacker wants a strong backdoor that still looks normal; the defender wants to reveal that tension and downweight the attacker.</a:t>
            </a:r>
          </a:p>
        </p:txBody>
      </p:sp>
    </p:spTree>
    <p:extLst>
      <p:ext uri="{BB962C8B-B14F-4D97-AF65-F5344CB8AC3E}">
        <p14:creationId xmlns:p14="http://schemas.microsoft.com/office/powerpoint/2010/main" val="8516775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B55B3-C18F-4CEF-B34A-746B5CE1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how the defender solves the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94633-90CB-48CA-AA9F-1043A621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0CF7C-2C04-42D2-AA61-EADA205B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BB877-E81C-4766-BAF0-28AD078C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DDC9-3EEF-4250-BAAE-B0BC7523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Unknown malicious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0288C-641B-4F45-BB5A-AEC77727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server does not know which selected clients are compromised, so it cannot directly solve the ideal objective.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DC065-7AA8-4D1F-A8B1-A67F3A7C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9675C-D491-4988-A76A-F5912EAC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Auxiliary global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AC45F-AE2A-4BE6-BA0C-79D772DA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Average all submitted updates into an auxiliary model. Under a backdoor, this model should still expose trigger-target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54803-9F54-40BE-AF64-8F564D6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220EA-7762-4083-A6CF-4D709D9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Operational defense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5CC37-6CB9-4E8B-BF7A-2DA907C6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Apply any compatible trigger reverse-engineering method to the auxiliary model, compute every genuine score, then aggregate with those weights.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56AFF-3385-4AF7-A74E-A08355C7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26C91-19FA-42EF-AC14-16F60803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60140-33CB-466E-9EE6-308BCCB9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server creates a temporary ‘rough average’ to discover the suspicious pattern before trusting any individual update.</a:t>
            </a:r>
          </a:p>
        </p:txBody>
      </p:sp>
    </p:spTree>
    <p:extLst>
      <p:ext uri="{BB962C8B-B14F-4D97-AF65-F5344CB8AC3E}">
        <p14:creationId xmlns:p14="http://schemas.microsoft.com/office/powerpoint/2010/main" val="19298941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564AB-1A41-4D58-8DB5-C3D66E3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how the attacker approximates a best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4A702-3FE4-41A5-9636-F32149D5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F17EA-D13B-4CF3-862F-0292D556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39C2-07F0-41F4-B9C6-2BA0D1C0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6CE4A-488F-456B-86AC-320B1FF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Private validation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A0402-8F12-459E-8B1A-3A677CD7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malicious client reserves a portion of local data, for example 10%, to estimate whether its locally trained model still appears genuine.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C8BB-FA45-4934-9FC2-C16ECBC2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ADE9B-D11F-437A-90FC-74C4C983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Approximate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61256-20DB-425C-9B9E-8BA7F3B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52825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Because the attacker does not know the defender's reverse-engineered trigger, it estimates a score using its own trigger and target.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9C81E-04A9-47DA-9FF5-4A569DBF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0D438-E88A-4960-858E-DB05A4B8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Grid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E8483-9FB4-49ED-ACCE-925BF79D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14925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It searches r_i^t for the largest estimated genuine score plus λr_i^t, then launches a standard backdoor attack with that ratio.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9EFF3-7891-4677-8E2F-36FD882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65112-2862-4DE0-B344-21D5B09B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30CCC-74BD-405D-AB19-F8532E4A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attacker tests several attack strengths and keeps the one that balances damage with stealth.</a:t>
            </a:r>
          </a:p>
        </p:txBody>
      </p:sp>
    </p:spTree>
    <p:extLst>
      <p:ext uri="{BB962C8B-B14F-4D97-AF65-F5344CB8AC3E}">
        <p14:creationId xmlns:p14="http://schemas.microsoft.com/office/powerpoint/2010/main" val="18053863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DCA4B-8361-431F-A36B-F5D36C9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FedGame: evidence, metrics, and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8A043-EFAD-4F60-B0CC-A2A381E0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459E4-A49B-4980-A2A9-AFC202F0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0A7AD-51F0-451E-B24D-B60858A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21F85-9D1D-4B38-8AFC-C92D7B8B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Metrics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054E7-5AC4-4C11-A76D-788267F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Test accuracy measures clean performance; attack success rate measures the fraction of trigger inputs predicted as the target class.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41B14-CE7A-44EE-8A25-7DB2322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43A3F-5C53-4C4A-9AD1-98F47B0E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4D335-7C67-4353-8B88-0FC04A65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147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evaluates MNIST and CIFAR-10 under scaling, DBA, and Neurotoxin attacks, in IID and non-IID settings.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18EAD-61CE-4469-8402-EFD472FE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B0E88-9DBF-4632-AFA3-4541B7C1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Reported limitation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1E07A-70F7-4131-817A-AE0DF387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defense needs a server clean dataset and trigger reverse engineering. The authors report an average 0.148 seconds per client score on one NVIDIA 2080 Ti GPU.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F196D-E321-4A35-93A3-036E8198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3B676-84A4-4169-8BDC-4F96E6A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E7F93-DA85-45B4-9663-17C7B1C5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defense is promising only if the server can afford a small clean reference set and the extra scoring work each round.</a:t>
            </a:r>
          </a:p>
        </p:txBody>
      </p:sp>
    </p:spTree>
    <p:extLst>
      <p:ext uri="{BB962C8B-B14F-4D97-AF65-F5344CB8AC3E}">
        <p14:creationId xmlns:p14="http://schemas.microsoft.com/office/powerpoint/2010/main" val="5289400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E4D63-A8AE-4BDF-B182-9E456E6E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3: Meta Stackelberg Game (Li et al., 2024)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E36CC-0D0E-428D-911D-8ADC1C82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6D95B-A52B-472A-BEC3-D24071E9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E790D-C479-4275-8947-DAE77AD2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658E5-31BD-4440-9607-A4F037E9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Bayesian Stackelberg Markov game with meta-learned online adaptation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AE6D4-7F42-4787-A5D6-5470DB68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6352251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1DC8D-3B92-4361-BA8C-56789B8A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problem and two-stage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BA4EF-30AF-47A9-9ADC-0A92E6B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4CACE-E18C-4EE2-9D3E-FB6E73B6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0C287-C223-442D-A396-4538BDAA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0535D-AB95-4F70-9B46-C9C113E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D745F-E4D6-40DB-A3E3-EE6624C9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An FL defender faces unknown, adaptive, or mixed poisoning attacks. A fixed defense policy can fail when the attack type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C3E5F-E5F5-40A5-B4FC-62A5C5AC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68B20-C470-4442-953E-BB8F671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Pre-training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A454F-2D76-4495-91F9-08092FB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52825"/>
            <a:ext cx="963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Create a simulated environment from generated data and an attack domain, then train a defense meta-policy over attack types.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40C0A-8E8F-4FBC-A514-080E7994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9B89B-2933-4A5A-9865-36798B28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Online adaptation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81278-8860-48FD-9E3B-14754CAA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Use observed trajectory data from real FL rounds to update the defense policy during deployment.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BE56F-77BE-4878-821F-5B9B86CF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F63E5-8604-4FD2-8842-BB27CCF6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76B73-8A0C-41BD-8CE6-42FC9880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It learns a starting defense in advance, then adjusts it after seeing how the real attack behaves.</a:t>
            </a:r>
          </a:p>
        </p:txBody>
      </p:sp>
    </p:spTree>
    <p:extLst>
      <p:ext uri="{BB962C8B-B14F-4D97-AF65-F5344CB8AC3E}">
        <p14:creationId xmlns:p14="http://schemas.microsoft.com/office/powerpoint/2010/main" val="4707237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F423D-7086-4694-A233-8112C86A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attack types encode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8FACD-C3B1-48CB-AD75-207886EC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80C42-C9B6-447C-9599-29D6D1C9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4F201-4970-4077-BF65-A971C81E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OBJECTIVE Ω1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05F85-1FC0-4175-A65D-62D89BDF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Untargeted or targeted attack objective.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A42C7-9BC4-4408-B3D7-2C280EB8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METHOD Ω2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2F645-4476-41EB-BF90-B61FE5A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4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Algorithm that generates the attack policy, such as IPM or DBA.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21AC2-A725-45BA-B7AF-406A88AB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62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CONFIGURATION Ω3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7DA9F-C864-44D0-8FE0-25A04AAA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Hyperparameters, trigger, target label, and attacker knowledge.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F44B5-1854-41CA-A6B3-405026E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joint attack type ξ combines these elements across malicious clients. The defender models known types as an attack domain Ξ with a prior Q(Ξ).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52578-F911-4866-8511-B8D97F6E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D13E5-1FDD-41D3-8026-231F8CA8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2B29D-D4BF-4022-8030-1434BA4F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‘Attack type’ is simply a structured label for what the attacker wants, how it attacks, and the settings it uses.</a:t>
            </a:r>
          </a:p>
        </p:txBody>
      </p:sp>
    </p:spTree>
    <p:extLst>
      <p:ext uri="{BB962C8B-B14F-4D97-AF65-F5344CB8AC3E}">
        <p14:creationId xmlns:p14="http://schemas.microsoft.com/office/powerpoint/2010/main" val="19453519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EEF54-065E-411B-93CC-1F98B36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what the game model represents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8F332-5CE7-49B1-BAD0-B63A3C3C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70435-8EB2-4D80-99C2-6C0F77AB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69104-37F3-4828-B6FE-94F2B2EC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STATE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1751F-EEC2-44A4-A3E6-3C6CC1F9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Global model weights w_g^t at the current FL round.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50FAD-BB12-415C-9C5E-2E22F0D7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DEFENDER ACTION A_D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69F1E-7D8F-4262-A947-DE47FD81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716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7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 combination of robust aggregation Aggr(.) and post-training defense h(.).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5DAE1-23E9-4DAF-9B64-DA2A0D99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ATTACKER ACTION A_Ξ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95843-FEAC-466E-ACB3-DA645478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716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Joint malicious model updates, selected according to attacker type 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74A11-FFDB-4FD4-B00D-0FECA709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TRANSITION 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642B6-E416-4235-8F6A-DEBA3193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aggregation rule converts current state and joint actions into the next global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73C93-F775-47B0-9B28-B50832BB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REWARDS R_D AND R_Ξ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F433A-284C-457A-A0C2-5C7608F7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671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Defender seeks lower post-defense loss; attacker seeks the opposing attack objective.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C6A66-16EA-4D90-966E-E69DCEDA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695F1-B2E1-4AB2-9CBA-03DA8FF2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50C35-FE89-42B1-95EA-A384BBA0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Each training round becomes one turn of a game: both sides act, the global model changes, and the next turn starts from that new model.</a:t>
            </a:r>
          </a:p>
        </p:txBody>
      </p:sp>
    </p:spTree>
    <p:extLst>
      <p:ext uri="{BB962C8B-B14F-4D97-AF65-F5344CB8AC3E}">
        <p14:creationId xmlns:p14="http://schemas.microsoft.com/office/powerpoint/2010/main" val="9277354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AAF41-5A48-4725-B04B-862D1A06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why the defender learns to adapt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B0359-8263-46E1-9211-FFBD6BAB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A36F2-AF7E-4C44-A687-DCE123B0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4C563-CA0C-472D-8B77-420B4C72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97908-1A3B-454E-A133-27466CF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Bayesian Stackelberg equilibrium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81BC9-53C7-4B8B-8F36-AA1F5FE3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9639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defender chooses a policy that maximizes expected reward over attack types while each type chooses a best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F591D-CC95-4534-9B72-9201BCDD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5EC84-5721-4918-8BC4-04DF0EDD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Limitation of fixed BSE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45A68-C27D-4FFB-BACD-4F1CBA93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It is ex-ante: the policy is chosen from the prior before the defender uses new online evidence about the hidden 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56616-2E14-4FB5-B50F-6169C535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51F36-4F5E-4AC3-B2D0-F0308FE2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Meta-Stackelberg equilibrium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AF94A-4C76-4129-B04D-1901EC88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leader optimizes an initial policy together with a gradient-based adaptation step using a sampled online trajectory.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92A85-4EE7-4C7D-960B-F0E27B7B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E6600-DF3B-416F-9606-57A541F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A0A0E-3FD5-45AC-8E1C-C5E16DB1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 fixed plan guesses before training begins. Meta-SE prepares a plan that can learn from evidence observed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21065846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79348-C962-497E-B4F6-5E06B433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learning the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51238-3F33-459C-B230-15931528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F68AF-E900-4024-AE3D-90C54797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4C955-353D-4A92-81E6-596CD86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698F9-F416-4F3E-85D6-87B6F45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Nested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BDBE8-4285-4D1F-8E89-B5E54B8E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For sampled attack types, an inner loop learns an attacker best response while the current defender policy remains fixed.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0C47A-0C66-4DEA-A343-90EC4AA0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2CD34-27E2-4010-B038-C59AB426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Outer 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F18A7-7E6E-4A0B-9422-F8AC2CEC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returned attacker policy helps estimate the defender value gradient and update the defense meta-policy.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D3B35-D7B5-4185-B764-1407DEE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8F383-6911-496B-8B30-743FA833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First-order variant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154DB-C765-447A-88EF-ED89CE5B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To avoid expensive Hessian estimation, the paper introduces Reptile meta-SL, a fully first-order pre-training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0C7A5-585E-45FE-9C1A-E439B80C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AD4DC-7E5F-4E5C-B0A7-C54168DD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F018D-95AF-46D0-999D-717D5E6C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algorithm repeatedly lets attackers improve in simulation, then trains the defender to react better next time.</a:t>
            </a:r>
          </a:p>
        </p:txBody>
      </p:sp>
    </p:spTree>
    <p:extLst>
      <p:ext uri="{BB962C8B-B14F-4D97-AF65-F5344CB8AC3E}">
        <p14:creationId xmlns:p14="http://schemas.microsoft.com/office/powerpoint/2010/main" val="11010662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F4412-9BE9-44DA-AA6B-8A3DCEB7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Meta Stackelberg: experiments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780CC-7AD6-417A-8871-1A411AFF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23F34-AEE9-4785-93F7-71925FD5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DD9E2-488A-4CEB-A640-5219688B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C3FB2-2FE6-4F32-9AF0-90D0AADE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Threat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49655-F44C-452F-95BA-92810B6A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Untargeted IPM, LMP, and RL attacks; targeted BFL, DBA, and BRL attacks; and mixed attacks are considered.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EB1FA-F57E-4DCD-A31D-16C26B0A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DD094-4C0D-4921-85EF-6CB678FE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60CFD-474B-48B0-8B95-D0336155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reports global-model accuracy and backdoor accuracy. For its Table 2, accuracy is higher and backdoor accuracy is lower.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85B84-C6AE-4EB3-9C8E-3A6AA96E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18572-1AA8-4078-A641-3984E7C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98196-E248-423F-B5F8-1F5E5F80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method assumes a simulator, an attack domain, and a way to estimate rewards online. White-box, gray-box, and black-box settings have different practical strength.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4959D-B104-4BD3-BEE0-463D1889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E3DAD-9B9D-47C4-8A73-84062F69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4DC12-4DC1-450F-8466-03BEFCD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Its strongest results rely on more knowledge about the attack; the realistic setting becomes harder when that knowledge is missing.</a:t>
            </a:r>
          </a:p>
        </p:txBody>
      </p:sp>
    </p:spTree>
    <p:extLst>
      <p:ext uri="{BB962C8B-B14F-4D97-AF65-F5344CB8AC3E}">
        <p14:creationId xmlns:p14="http://schemas.microsoft.com/office/powerpoint/2010/main" val="19894043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18762-C783-4AE3-AF59-D9A79EDF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4: pFedGame (Behera and Chakraborty, 2024)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275DB-A191-415A-94C8-1942A983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BA9A-A062-4ED9-8BEC-4F4C03E6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81C0B-0D1A-43C7-BE5D-548DB8AB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4955F-457F-4D12-92B9-E29A6EA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DFL game for peer selection and local aggregation 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0FFFC-3808-4516-BCB4-E69F7BF0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10559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E2572-8E6B-45A2-9CAF-5CDE2E98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purpose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FF1DC-0AAE-4120-8E6B-4D3DA29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0E8C6-0162-4BEE-BF74-310E0160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E7628-788C-49C1-A7A6-24D29D87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FA837-1A40-4853-A6BA-F1D50D5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9BB05-ECE3-4762-9711-0D8C948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Decentralized FL under dynamic topology. Nodes exchange models directly with immediate neighbors, without a central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39AEF-2387-449D-8399-E2E23D01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BFAC8-6263-4B5C-8B67-07FD9C69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7012D-7737-46B5-9705-74FBAF75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52825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Improve a node's local model by selecting useful peers and choosing a weight between its own model and peer aggregate.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E28A1-B237-4D10-9F47-05709DCF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EA9A2-7703-434B-9901-E3E76DB1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Important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6BCCC-21D0-41C8-93F8-E93F3A45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does not model a malicious attacker. It is relevant as a DFL game-theoretic aggregation paper, not an adversarial poisoning-defense game.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9236D-E48D-43BB-B817-373F283F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4022C-1EB7-4BEC-A170-B47E85B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2CCE3-A70D-49D0-84E7-12098098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pFedGame asks ‘which model should a node trust more?’, not ‘how should a defender fight an attacker?’</a:t>
            </a:r>
          </a:p>
        </p:txBody>
      </p:sp>
    </p:spTree>
    <p:extLst>
      <p:ext uri="{BB962C8B-B14F-4D97-AF65-F5344CB8AC3E}">
        <p14:creationId xmlns:p14="http://schemas.microsoft.com/office/powerpoint/2010/main" val="1018987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76A7D-245C-47D9-B2FC-94F595A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peer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F4778-54FA-433B-9C1F-0EE88347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5E8BC-A3C6-4CEF-9B34-ACB3873F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772DC-AA70-4414-9718-CB76CBE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72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node x selects neighbor c when the local validation accuracy of c's model meets a threshold 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DEB98-3C66-4E48-8C7F-DA143A92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CANDIDATE SET C(X)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876DC-7CBE-4F46-8364-EBAA8490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Immediate neighbors connected to x in the current dynamic 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BA154-D5C9-49E7-AE95-3A7E6505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SELECTION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DD3B6-AF32-4211-A9F6-4BB10B6B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H(M(c), D(x)) ≥ θ: evaluate peer c's model M(c) on x's local data D(x).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B515C-2452-4248-8CE9-857E79A8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28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F9906-C1D0-4773-BD81-2D520316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26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425" b="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Aggregate only models from selected peers, then compare this peer aggregate with x's own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D58D9-AE2E-458E-A79A-E0A03608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E1B41-A51F-4BBA-B2ED-7DB626E3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EEE1B-0E61-44C5-A492-F0F25868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 node first asks: does this neighbor’s model work well on my local data? If yes, include it in the peer group.</a:t>
            </a:r>
          </a:p>
        </p:txBody>
      </p:sp>
    </p:spTree>
    <p:extLst>
      <p:ext uri="{BB962C8B-B14F-4D97-AF65-F5344CB8AC3E}">
        <p14:creationId xmlns:p14="http://schemas.microsoft.com/office/powerpoint/2010/main" val="101147019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9263C-5CC3-43FF-A103-33CF2AA9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two-player aggregation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6EF55-D622-48A8-B450-5A3AC53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64460-70A9-41EE-8235-10ACB977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2ED4D-C85A-4C2C-AB38-31A4B6E5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131D4-70DA-4DDD-8A0E-408DA4E2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AA500-94D8-4421-BAF8-FB61418C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Player 1 is the node's own model M(x); player 2 is the aggregate M(α) of selected peer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42820-BD2A-4E38-B818-A9C8CC2F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B2B75-0105-42C8-8A2F-B4548D15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072E9-D3B6-4AD9-A476-585C1251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Choose weights ψ(x) and ψ(α) subject to ψ(x) + ψ(α) = 1 in a convex combination of the two models.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1277E-2AC2-4BBB-B3B9-6D67608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29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F60DB-A35A-45C9-95A9-81F7B53B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Payoff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4FF63-A8B3-42C6-ACCA-4A3A872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Maximize the accuracy of the weighted combined model on node x's local data. The paper calls this a two-player constant-sum cooperative game.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D7241-90E7-4F47-8F71-AF02B96B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23DCD-FB6A-4734-AB97-CCBE8A38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00849-9CC4-4E1E-A2D4-2D7F165F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two ‘players’ are not people competing. They are two information sources: my model and the neighbors’ combined model.</a:t>
            </a:r>
          </a:p>
        </p:txBody>
      </p:sp>
    </p:spTree>
    <p:extLst>
      <p:ext uri="{BB962C8B-B14F-4D97-AF65-F5344CB8AC3E}">
        <p14:creationId xmlns:p14="http://schemas.microsoft.com/office/powerpoint/2010/main" val="5743611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765F8-42D9-48D9-B595-28CFA6B9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weight-search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FE61A-69B5-4A3C-BC48-EE5EDD4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2DD77-C124-4BA9-BEBE-151419D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3B557-7BB3-43B0-BAB9-FE343DFA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3CA82-76D0-420B-9148-272BCA85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Initialize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8AA95-4E0F-4223-81FD-F1407384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Start with ψ(x)=0 and ψ(α)=1, meaning the peer aggregate initially has full weight.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1B957-30AA-41B6-85C2-9FFC89F0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75CD9-1534-42B5-9231-9AD06BF1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Perturb and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8FB66-1D37-40E1-ACC5-E70E5446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Increase ψ(x) by δ and decrease ψ(α) by δ. Evaluate the changed combination for r game rounds on local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5490F-5C76-414C-9EAD-BAA898F0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FF47E-B800-4ABB-B9B5-0F8D9A38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Accept when useful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35D9E-0246-4150-AE14-175250F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Keep the new weights only if local accuracy improves by more than β. The paper gives time complexity O(|C(x)|)+O(r).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F37CB-A032-40D4-B0FC-7DACA6A5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A0EA-F1D3-4BFE-9B01-D794CB7D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8ED05-4100-461B-9C75-8DF035A9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It is a simple trial-and-keep rule: shift a little weight toward the local model, keep the change only when it helps locally.</a:t>
            </a:r>
          </a:p>
        </p:txBody>
      </p:sp>
    </p:spTree>
    <p:extLst>
      <p:ext uri="{BB962C8B-B14F-4D97-AF65-F5344CB8AC3E}">
        <p14:creationId xmlns:p14="http://schemas.microsoft.com/office/powerpoint/2010/main" val="10418302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2CF85-4092-49D9-B547-EC9F0560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pFedGame: results and lesson for DFL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4E94A-B7E2-48FE-8DF6-FB01D4E0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D3023-E037-436D-AD25-FE7C59CD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E211E-84CC-4E1A-B746-8E9E3B24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5A2F2-32EF-42E3-B281-A9862192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4A474-4F0F-4C60-AA4D-20B75DD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Fashion-MNIST, CIFAR-10, and CIFAR-100 under extreme, severe, and homogeneous data heterogeneity, compared with pFedGraph.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F9747-5E2C-43D2-87E4-E0FDF995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E2343-773E-4885-911A-A088FFAF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Reported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E02D7-8187-44E1-92BF-FDE84E0B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It performs comparably in some heterogeneous settings but has lower reported average accuracy than pFedGraph on CIFAR-10 and CIFAR-100 in the paper's summary 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3AD3D-A761-43D8-8A8D-4A46E171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6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303D5-A0CC-4B8D-801C-EC6FF2E3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Lesson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20917-3C08-451E-A6D4-0EB5C63A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33975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DFL can use game vocabulary to formalize a local aggregation trade-off. This differs from modeling attacker and defender incentives under poisoning.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6E497-9617-41E4-84A5-6708ADAE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2AFAE-913A-4D59-AE26-C936C24E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3CBE9-C4DB-4C55-8BEC-DB4C4E74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The value of pFedGame for this review is the DFL aggregation idea, not a direct solution to poisoning attacks.</a:t>
            </a:r>
          </a:p>
        </p:txBody>
      </p:sp>
    </p:spTree>
    <p:extLst>
      <p:ext uri="{BB962C8B-B14F-4D97-AF65-F5344CB8AC3E}">
        <p14:creationId xmlns:p14="http://schemas.microsoft.com/office/powerpoint/2010/main" val="116958481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F6946-6214-4383-A1AB-F19D0312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Case study 5: FORCE (Dong et al., 2026)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10C92-03EC-449C-B226-B94C4FA3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F2F9A-673F-471B-831E-8E499706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E2E43-5EE9-484D-A5B2-C1D9FE73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FFE8A-D02E-4325-BE36-2ED992C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Shapley-inspired contribution aggregation for Byzantine-resilient DFL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F7A70-888F-498B-8C11-6C0E1036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42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Paper-by-paper explanation: problem, model, solution, evidence,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42673811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DE918-BC12-4BC4-9939-F67DC0EE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FORCE: motivation and system setting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BE837-A424-4F4B-8F4B-355BC17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67CFC-E83E-4C65-A957-6AEABF0F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47D9E-10D0-42F4-A292-228185FF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9D8C1-51F4-45A2-81E0-A856F926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916E6-DC77-48E4-8C2C-0FB71CB1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Decentralized FL lets clients exchange models without a server. Each node may also act as a local aggregator.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98210-E3FA-4D3F-ADCF-6A155E8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5C173-F271-4B3D-A636-39E5EC44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Threat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2921D-0B00-45D4-AC03-D12274E1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Byzantine clients can send arbitrary or adaptive malicious updates. The paper argues that gradient-checking defenses can be manipulated.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EAFE7-AD1E-4AC0-9478-FC2958BB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08745-7AA7-4B29-9A5A-6CD71535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9F49F-1AC5-426D-88C8-9F39D5FE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Identify potentially malicious neighbors using a universal contribution measure based on local-model loss rather than a particular gradient pattern.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4D75F-FB71-4626-9DAE-779C7109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054E9-E6E9-412A-BFB0-03813EEA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138C4-148C-4C46-BA6B-3B240AA3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Instead of asking ‘does this update look strange?’, FORCE asks ‘does this neighbor actually improve my model?’</a:t>
            </a:r>
          </a:p>
        </p:txBody>
      </p:sp>
    </p:spTree>
    <p:extLst>
      <p:ext uri="{BB962C8B-B14F-4D97-AF65-F5344CB8AC3E}">
        <p14:creationId xmlns:p14="http://schemas.microsoft.com/office/powerpoint/2010/main" val="15358991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B745D-E53E-495F-91A4-8D30E6B3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FORCE: the Shapley-value intuition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B383-9B1C-4C50-9F98-7C6CFD28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29B73-DA2A-4124-AABE-7B63D42F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0B0EB-C756-4AEF-B268-603EE903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15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 a set of contributors, the Shapley value assigns each contributor its average marginal contribution across possible coalition orders.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01B81-E8AC-4FAB-A484-CF418679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88105-621B-43A7-8996-B3428E44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Coalition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64ED8-EFCF-4D01-8B5E-5B6D3545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Define how good an aggregate is. A contributor gains value when its addition improves that coalition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19C7F-8FD1-495D-AFFC-F7FD8145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9E559-9FCF-4A79-8353-FE829AB7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Fair averaging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A64A7-9BAD-4BD8-9C2C-65BABD23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Average marginal contribution over different subsets and orders to avoid crediting only one arbitrary arrival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02D0E-D509-42A1-A7BE-AAF06B93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11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4646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A64646"/>
                </a:solidFill>
                <a:latin typeface="Fira Sans"/>
                <a:ea typeface="Fira Sans"/>
                <a:cs typeface="Fira Sans"/>
              </a:rPr>
              <a:t>In FORCE, the published abstract says the contribution signal comes from local-model loss and helps identify potentially malicious clients.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0E94C-05B7-4043-9D86-4EB57CDA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81DCC-AD61-4D8B-A7BD-703989E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3DA19-E0CC-43A3-9BB6-6E0345B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A helpful neighbor should improve a coalition. A harmful one should receive little or negative contribution credit.</a:t>
            </a:r>
          </a:p>
        </p:txBody>
      </p:sp>
    </p:spTree>
    <p:extLst>
      <p:ext uri="{BB962C8B-B14F-4D97-AF65-F5344CB8AC3E}">
        <p14:creationId xmlns:p14="http://schemas.microsoft.com/office/powerpoint/2010/main" val="203773323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82C1F-A90C-4ABC-9CB7-4780D6E2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FORCE: published method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383E-3E13-49A6-8878-4064DE20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F4B08-17BE-46C7-B5D7-E252F05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D79AD-C463-4C47-939C-22B97A1F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BD635-D1EB-41F2-A0A5-0CC28A0A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Contribution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E5B70-CE5F-419F-A42E-008A4800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FORCE draws inspiration from Shapley value and evaluates a local-model loss independent of specific gradients.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01F07-31B9-48CE-A46F-469B30E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8508E-C615-4032-A5CC-FB7F9362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Aggregation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45662-6857-43E6-AC74-7E646011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This contribution evaluation supports identification of potentially malicious clients before or during local aggregation.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738CF-0C0C-42DD-9C4D-7D34B59D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0AF6A-5207-45FE-AA2B-1AC54CE5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Game-theory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0A70-C398-4422-962B-27501491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game-theory component is contribution valuation, rather than a reported Nash, minimax, or Stackelberg attacker-defender equilibrium.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4E8C3-421A-42BB-93FE-36445267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CAF04-A1F8-4048-B792-C79E1F71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D7C1C-D580-4E3E-9417-B87052C8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Here, game theory supplies a way to share credit fairly. It does not model two strategic opponents choosing actions.</a:t>
            </a:r>
          </a:p>
        </p:txBody>
      </p:sp>
    </p:spTree>
    <p:extLst>
      <p:ext uri="{BB962C8B-B14F-4D97-AF65-F5344CB8AC3E}">
        <p14:creationId xmlns:p14="http://schemas.microsoft.com/office/powerpoint/2010/main" val="74767311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C3F50-5913-409F-94F2-639E7692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FORCE-: scalability through approximation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E6EF6-BB38-40C6-BD7A-432486E7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5C049-C1BB-4865-BCD0-A55F6B6A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7CBED-D1C9-4327-AD30-352E1834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B81CE-287E-45C3-AF01-0199C40B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33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Cost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3BF05-0FD1-4E4E-AF67-07D1AEFB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5740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Exact Shapley-style calculations can grow expensive as a node has more neighboring clients.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E1B01-3A1E-4901-8161-712A691C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E910D-ACC4-4368-BAC8-EB92F1BB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931E1-39D8-4ED9-A9AF-4730C6FA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paper introduces FORCE-, described as a computation-lightweight variant that approximates Shapley-value computation.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941D3-A211-4E6E-B1DF-CA2A1E41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B6DA5-893F-43D8-86D6-D2DE9AE9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Deployment implication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13F07-77D3-4C5A-B051-3022D36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Approximation matters in DFL because local aggregators can have limited compute resources and decentralized neighbor counts vary.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6E45C-91D3-480D-ADB7-16A6BB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5135F-14BB-4030-82DB-E64846FC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E730E-E71E-4CEA-A1D8-911CB60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FORCE- sacrifices an exact contribution calculation so a real decentralized node can run the method with many neighbors.</a:t>
            </a:r>
          </a:p>
        </p:txBody>
      </p:sp>
    </p:spTree>
    <p:extLst>
      <p:ext uri="{BB962C8B-B14F-4D97-AF65-F5344CB8AC3E}">
        <p14:creationId xmlns:p14="http://schemas.microsoft.com/office/powerpoint/2010/main" val="145143245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15D80-5955-4652-8243-5E7FAEFE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FORCE: evidence boundary and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0FDE3-788D-4380-87F5-4D477EB4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6EDDB-3775-4889-9E8B-1B8DBC1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65F51-9F8D-4FD5-82D9-A705B3BB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4468A-C24A-4912-9025-78E78F04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Reported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9FF0D-6BC9-4BC2-90C9-AC302306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963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public abstract reports four datasets and three attack settings, with FORCE outperforming compared Byzantine-resilient DFL aggregation methods.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A0B2-A9F2-4E38-9BC2-73831B3E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BD487-7C10-4A8F-885C-9E70020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Evidence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E1236-D42F-4A15-9082-A95983E9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63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accessible source for this review provides abstract-level method details. Exact scoring equation, approximation procedure, and experimental protocol require the full article before reproducing results.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10CB4-5ADD-44B4-91C4-CCD57CF7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39307-B183-44A5-BFE2-4554289E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Relevance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C6375-3028-4707-A83E-D2A69485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FORCE is the closest reviewed paper to DFL plus poisoning resilience, but its game-theory mechanism is contribution aggregation rather than strategic attacker-defender equilibrium.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6B099-3892-47ED-AC3D-58213864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E6AEC-A66B-4ED7-9441-96AAA808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97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IN PLAIN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3BD06-E1B9-401F-B640-7D79849F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 i="1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It is highly relevant to DFL resilience, but it answers a different game-theory question from FedGame or Meta Stackelberg.</a:t>
            </a:r>
          </a:p>
        </p:txBody>
      </p:sp>
    </p:spTree>
    <p:extLst>
      <p:ext uri="{BB962C8B-B14F-4D97-AF65-F5344CB8AC3E}">
        <p14:creationId xmlns:p14="http://schemas.microsoft.com/office/powerpoint/2010/main" val="154614279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19DF8-738F-4CF1-A538-03DFB218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Cross-paper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31814-F3ED-4DF3-88A2-1ABE359E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DEB5-B134-4AC4-8F48-B6C716FD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85739"/>
                <a:gridCol w="3446003"/>
                <a:gridCol w="2992582"/>
                <a:gridCol w="2448476"/>
              </a:tblGrid>
              <a:tr h="758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Players / choices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Solution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Main metric focus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Sagduyu et al.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Attacker poisons; server admits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Nash best responses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Classification reward and action costs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FedGame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Attacker selects ratio and trigger; server scores updates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Minimax plus operational heuristics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TA, ASR, score cost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Meta Stackelberg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Defender policy; type-specific adaptive attacker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BSE, meta-SE, policy gradient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Global accuracy, backdoor accuracy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pFedGame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Own model versus peer aggregate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Local weight search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Local model accuracy</a:t>
                      </a:r>
                    </a:p>
                  </a:txBody>
                  <a:tcPr marL="91440" marR="91440" marT="45720" marB="45720"/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FORCE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Neighbor contributions in DFL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Shapley-inspired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Byzantine robustness and overhead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02485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D0441-0D9A-4D7C-B07B-00C081BB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What changes across the papers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AD01D-8003-4C9E-9982-55AF64F0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4DF17-93B4-4DE3-A1BD-5AFAB40F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72990-1907-477A-B907-8154CF45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EAB16-F5FF-4B6F-8FAD-7CC0E229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Who 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F5CDF-4E07-4F6C-933E-63B3E7DA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Some papers model an explicit attacker and defender. Others use game theory to value contributions or choose aggregation weights.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76972-A28E-4036-AB6D-BB465440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B859E-7345-4AB8-AB58-0EE04E8E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480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What is uncertain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533EE-BB4B-4991-AC66-31C3973F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7187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From no hidden type in a compact Nash model to unknown attack types and multi-round evidence in Meta Stackelberg.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DCE1B-3733-4749-B2F6-1CD24870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C8488-0DC8-4ADA-AE76-B2181BBE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What counts as a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7EBDD-AAB0-42CC-BB6F-66A468DF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Equilibrium analysis, minimax optimization, policy learning, and Shapley-inspired scoring answer distinct research questions.</a:t>
            </a:r>
          </a:p>
        </p:txBody>
      </p:sp>
    </p:spTree>
    <p:extLst>
      <p:ext uri="{BB962C8B-B14F-4D97-AF65-F5344CB8AC3E}">
        <p14:creationId xmlns:p14="http://schemas.microsoft.com/office/powerpoint/2010/main" val="116411046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9AD44-BAAA-444C-BB0A-7E8F79BA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Reading checklist for a game-theoretic FL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8A5EF-51DF-47CA-8463-B79F37DA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D4BDA-5ACE-4F36-BE13-8973FE83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4BDF9-01E6-4371-908D-9A94D822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1AB87-F93F-48D2-BC27-10FD610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1. Identify the players and action 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D7E03-B4F4-4FFA-8E5B-33004A08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478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Do the paper's real decision variables correspond to the claimed players?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6E5F2-D167-4D83-9CDB-39984F6A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EFB0B-F35A-449E-AAD1-B98C7A9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2. Inspect information and timing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C6E69-190C-4B2E-A75B-34D0D10B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Which variables are hidden, and do simultaneous or leader-follower moves reflect the system?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C0D55-D195-4C66-9354-7D6B5312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54EB3-F2A5-451C-9E46-08DAB248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3. Read the utility or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578C3-3E23-4B97-B8F7-0410490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Which trade-offs are rewarded or penalized? Are clean utility and attack damage both measured?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75225-C878-416C-8BEB-F6F798F8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8E255-201E-4354-8E84-5C68F2C5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4. Separate theory from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01338-EE83-49ED-87AA-D48DEF9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Does the operational algorithm actually approximate the stated equilibrium or optimization problem?</a:t>
            </a:r>
          </a:p>
        </p:txBody>
      </p:sp>
    </p:spTree>
    <p:extLst>
      <p:ext uri="{BB962C8B-B14F-4D97-AF65-F5344CB8AC3E}">
        <p14:creationId xmlns:p14="http://schemas.microsoft.com/office/powerpoint/2010/main" val="52594687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1E5E6-F347-462C-B80B-CE3821D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Key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B5D61-BCE1-4E31-A444-93D52FCC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D1BDD-9831-4677-9214-52FF662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8931C-8BD3-4B9E-BCF4-406D807F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74390-2F42-45E8-9844-FC129B3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6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theory supplies a modeling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342B6-B3E8-48D1-AFBA-C86520E9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Players, actions, utilities, information, timing, and solution concepts make strategic assumptions inspectable.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9089F-ECE6-47DE-B5C8-2DEE00C2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E1792-8D14-4D6D-9303-06D3131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Adaptive attacks motivate dynamic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5FA61-AF7C-48EA-8A75-020A45A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FedGame and Meta Stackelberg explicitly account for the attacker changing behavior in response to defense.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21CC6-052A-4F7E-AD42-26B0C7B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29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A7530-98D2-48E2-9317-D2D3CFB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DFL uses game theory in more than one 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8C672-497F-4B9D-98FE-B5E10B5E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pFedGame and FORCE show aggregation and contribution formulations; they should not be presented as identical to an attacker-defender strategic game.</a:t>
            </a:r>
          </a:p>
        </p:txBody>
      </p:sp>
    </p:spTree>
    <p:extLst>
      <p:ext uri="{BB962C8B-B14F-4D97-AF65-F5344CB8AC3E}">
        <p14:creationId xmlns:p14="http://schemas.microsoft.com/office/powerpoint/2010/main" val="190717986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6F537-AA3E-49A9-B861-2D59FCC1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Selected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C595B-7355-4F8B-9E87-F03F0B4E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5AADF-69D7-411E-934E-E2A3AAE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59836-7290-47D6-AC24-C809EA65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1. Sagduyu, Erpek, and Shi. Securing NextG Systems against Poisoning Attacks on Federated Learning: A Game-Theoretic Solution. arXiv:2312.17164, 2023.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AC1B5-4E0E-47AD-8CF5-7B0D7242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2. Jia et al. FedGame: A Game-Theoretic Defense against Backdoor Attacks in Federated Learning. NeurIPS 2023.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F7F65-D3F3-4CEA-B776-216E9CB7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3. Li et al. Meta Stackelberg Game: Robust Federated Learning against Adaptive and Mixed Poisoning Attacks. arXiv:2410.17431, 2024.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7FF26-BC42-4BF4-B60C-1C15006B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4. Behera and Chakraborty. pFedGame: Decentralized Federated Learning using Game Theory in Dynamic Topology. arXiv:2410.04058, 2024.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7137D-A443-4617-BA26-E58EC6D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125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5. Dong et al. FORCE: Byzantine-Resilient Decentralized Federated Learning via Game-Theoretic Contribution Aggregation. IEEE TIFS 21, 2026. DOI: 10.1109/TIFS.2026.3674690.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7EE51-12E6-4081-8153-999E5006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i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125" i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Research notes: game_theory_research_note.md</a:t>
            </a:r>
          </a:p>
        </p:txBody>
      </p:sp>
    </p:spTree>
    <p:extLst>
      <p:ext uri="{BB962C8B-B14F-4D97-AF65-F5344CB8AC3E}">
        <p14:creationId xmlns:p14="http://schemas.microsoft.com/office/powerpoint/2010/main" val="1621076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2026-09-28T21:20:32.0400000Z</dcterms:created>
  <dcterms:modified xsi:type="dcterms:W3CDTF">2026-09-28T21:20:32.0400000Z</dcterms:modified>
</coreProperties>
</file>