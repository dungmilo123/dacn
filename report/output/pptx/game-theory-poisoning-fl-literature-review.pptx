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9c7e5822274ff0" /><Relationship Type="http://schemas.openxmlformats.org/officeDocument/2006/relationships/extended-properties" Target="/docProps/app.xml" Id="R9235a7f415214498" /><Relationship Type="http://schemas.openxmlformats.org/officeDocument/2006/relationships/officeDocument" Target="/ppt/presentation.xml" Id="R606a0b2886ac45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15b50aef9448fd"/>
  </p:sldMasterIdLst>
  <p:notesMasterIdLst>
    <p:notesMasterId xmlns:r="http://schemas.openxmlformats.org/officeDocument/2006/relationships" r:id="R319c97bbedee4cf8"/>
  </p:notesMasterIdLst>
  <p:sldIdLst>
    <p:sldId xmlns:r="http://schemas.openxmlformats.org/officeDocument/2006/relationships" id="256" r:id="R785c703e239d4241"/>
    <p:sldId xmlns:r="http://schemas.openxmlformats.org/officeDocument/2006/relationships" id="257" r:id="Ra11cbd2fe4804532"/>
    <p:sldId xmlns:r="http://schemas.openxmlformats.org/officeDocument/2006/relationships" id="258" r:id="Rdb41629cf7ca4958"/>
    <p:sldId xmlns:r="http://schemas.openxmlformats.org/officeDocument/2006/relationships" id="259" r:id="R6e8ec9a084ce4021"/>
    <p:sldId xmlns:r="http://schemas.openxmlformats.org/officeDocument/2006/relationships" id="260" r:id="R60e256564b684239"/>
    <p:sldId xmlns:r="http://schemas.openxmlformats.org/officeDocument/2006/relationships" id="261" r:id="Rae610e79aac24505"/>
    <p:sldId xmlns:r="http://schemas.openxmlformats.org/officeDocument/2006/relationships" id="262" r:id="Ra5c2924e01cf4b9a"/>
    <p:sldId xmlns:r="http://schemas.openxmlformats.org/officeDocument/2006/relationships" id="263" r:id="R1058d8c13f6b4e8b"/>
    <p:sldId xmlns:r="http://schemas.openxmlformats.org/officeDocument/2006/relationships" id="264" r:id="R02394c50a82d4cca"/>
    <p:sldId xmlns:r="http://schemas.openxmlformats.org/officeDocument/2006/relationships" id="265" r:id="Re15d9e4b32014f82"/>
    <p:sldId xmlns:r="http://schemas.openxmlformats.org/officeDocument/2006/relationships" id="266" r:id="R77857fb0b02e4e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e0e9d1cbb842a2" /><Relationship Type="http://schemas.openxmlformats.org/officeDocument/2006/relationships/slideMaster" Target="/ppt/slideMasters/slideMaster1.xml" Id="Rfb15b50aef9448fd" /><Relationship Type="http://schemas.openxmlformats.org/officeDocument/2006/relationships/notesMaster" Target="/ppt/notesMasters/notesMaster1.xml" Id="R319c97bbedee4cf8" /><Relationship Type="http://schemas.openxmlformats.org/officeDocument/2006/relationships/presProps" Target="/ppt/presProps.xml" Id="R7751f284128e4b6a" /><Relationship Type="http://schemas.openxmlformats.org/officeDocument/2006/relationships/tableStyles" Target="/ppt/tableStyles.xml" Id="R8c38d2f9808b4f80" /><Relationship Type="http://schemas.openxmlformats.org/officeDocument/2006/relationships/slide" Target="/ppt/slides/slide1.xml" Id="R785c703e239d4241" /><Relationship Type="http://schemas.openxmlformats.org/officeDocument/2006/relationships/slide" Target="/ppt/slides/slide2.xml" Id="Ra11cbd2fe4804532" /><Relationship Type="http://schemas.openxmlformats.org/officeDocument/2006/relationships/slide" Target="/ppt/slides/slide3.xml" Id="Rdb41629cf7ca4958" /><Relationship Type="http://schemas.openxmlformats.org/officeDocument/2006/relationships/slide" Target="/ppt/slides/slide4.xml" Id="R6e8ec9a084ce4021" /><Relationship Type="http://schemas.openxmlformats.org/officeDocument/2006/relationships/slide" Target="/ppt/slides/slide5.xml" Id="R60e256564b684239" /><Relationship Type="http://schemas.openxmlformats.org/officeDocument/2006/relationships/slide" Target="/ppt/slides/slide6.xml" Id="Rae610e79aac24505" /><Relationship Type="http://schemas.openxmlformats.org/officeDocument/2006/relationships/slide" Target="/ppt/slides/slide7.xml" Id="Ra5c2924e01cf4b9a" /><Relationship Type="http://schemas.openxmlformats.org/officeDocument/2006/relationships/slide" Target="/ppt/slides/slide8.xml" Id="R1058d8c13f6b4e8b" /><Relationship Type="http://schemas.openxmlformats.org/officeDocument/2006/relationships/slide" Target="/ppt/slides/slide9.xml" Id="R02394c50a82d4cca" /><Relationship Type="http://schemas.openxmlformats.org/officeDocument/2006/relationships/slide" Target="/ppt/slides/slide10.xml" Id="Re15d9e4b32014f82" /><Relationship Type="http://schemas.openxmlformats.org/officeDocument/2006/relationships/slide" Target="/ppt/slides/slide11.xml" Id="R77857fb0b02e4e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d0103ed31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43a82a68804f0f" /><Relationship Type="http://schemas.openxmlformats.org/officeDocument/2006/relationships/notesMaster" Target="/ppt/notesMasters/notesMaster1.xml" Id="Ra109535accf243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0ed9dcf1434327" /><Relationship Type="http://schemas.openxmlformats.org/officeDocument/2006/relationships/notesMaster" Target="/ppt/notesMasters/notesMaster1.xml" Id="Ree0cd161d1e04d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e63b5e3010407d" /><Relationship Type="http://schemas.openxmlformats.org/officeDocument/2006/relationships/notesMaster" Target="/ppt/notesMasters/notesMaster1.xml" Id="Rb9a7b1e7e616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d22c144ac14fa1" /><Relationship Type="http://schemas.openxmlformats.org/officeDocument/2006/relationships/notesMaster" Target="/ppt/notesMasters/notesMaster1.xml" Id="Rf1b92ad86d514b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9e38b262e04ba8" /><Relationship Type="http://schemas.openxmlformats.org/officeDocument/2006/relationships/notesMaster" Target="/ppt/notesMasters/notesMaster1.xml" Id="Rba12a0ae82174d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d1a1a708b74701" /><Relationship Type="http://schemas.openxmlformats.org/officeDocument/2006/relationships/notesMaster" Target="/ppt/notesMasters/notesMaster1.xml" Id="Ra619923867b248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ce3ed206e54ae2" /><Relationship Type="http://schemas.openxmlformats.org/officeDocument/2006/relationships/notesMaster" Target="/ppt/notesMasters/notesMaster1.xml" Id="Rc3887bd9c04447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b5c37587734745" /><Relationship Type="http://schemas.openxmlformats.org/officeDocument/2006/relationships/notesMaster" Target="/ppt/notesMasters/notesMaster1.xml" Id="Rdea2cdad991d4f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69ccea8d014c32" /><Relationship Type="http://schemas.openxmlformats.org/officeDocument/2006/relationships/notesMaster" Target="/ppt/notesMasters/notesMaster1.xml" Id="Rd67263a1f0e94b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b44b73f7bd4658" /><Relationship Type="http://schemas.openxmlformats.org/officeDocument/2006/relationships/notesMaster" Target="/ppt/notesMasters/notesMaster1.xml" Id="R0c0a16953c9444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168e7d5d314374" /><Relationship Type="http://schemas.openxmlformats.org/officeDocument/2006/relationships/notesMaster" Target="/ppt/notesMasters/notesMaster1.xml" Id="R0266d35aa1b6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game-theory literature review for poisoning attacks in federated learning. Sources appear on the relevant research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motivation. Relevant direct strategic-defense sources: Sagduyu, Erpek, and Shi (2023), arXiv:2312.17164; Jia et al. (2023), FedGame, NeurIPS 2023.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game-theory vocabulary synthesized for the presentation. See also Sagduyu et al. (2023), arXiv:2312.17164, and Li et al. (2024), arXiv:2410.17431.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framework for reading the papers. A game model must make entities, actions, information, payoffs, and timing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Definitions are standard game-theory terminology. The application to FL follows Sagduyu et al. (2023) for Nash reasoning and Li et al. (2024) for Bayesian Stackelberg reasoning.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Game-family classification synthesized from the reviewed papers. Direct sources: Sagduyu et al. (2023); Jia et al. (2023); Li et al. (2024); Behera and Chakraborty (2024); Dong et al. (2026).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 et al. (2024), Meta Stackelberg Game, models uncertain attack types with a Bayesian Stackelberg Markov game and online adaptation. arXiv:2410.17431.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Sagduyu, Erpek, and Shi (2023), arXiv:2312.17164; Jia et al. (2023), FedGame, NeurIPS 2023; Li et al. (2024), arXiv:2410.17431; Behera and Chakraborty (2024), arXiv:2410.04058; Dong et al. (2026), IEEE TIFS, DOI 10.1109/TIFS.2026.3674690.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based on the papers' stated models and evaluated objectives. Sources: Sagduyu et al. (2023), arXiv:2312.17164; Jia et al. (2023), NeurIPS 2023; Li et al. (2024), arXiv:2410.17431; Behera and Chakraborty (2024), arXiv:2410.04058; Dong et al. (2026), DOI 10.1109/TIFS.2026.3674690.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Synthesis from all reviewed sources. The distinctions reflect the papers' stated players, objectives, and evaluation settings rather than a claim of complete literature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Bibliographic references are included visibly on this final slide. Verify final publication status for arXiv preprints before using them in the formal thesis bibliography.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703c9f8fb4a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64b4ec6064d3b" /><Relationship Type="http://schemas.openxmlformats.org/officeDocument/2006/relationships/slideLayout" Target="/ppt/slideLayouts/slideLayout1.xml" Id="R37ccd30044ee48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ccd30044ee48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a53923e7840d9" /><Relationship Type="http://schemas.openxmlformats.org/officeDocument/2006/relationships/notesSlide" Target="/ppt/notesSlides/notesSlide1.xml" Id="R0bccec206bd647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06ff4da2b4e97" /><Relationship Type="http://schemas.openxmlformats.org/officeDocument/2006/relationships/notesSlide" Target="/ppt/notesSlides/notesSlide2.xml" Id="R42f88e19ea9545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02a2788254c31" /><Relationship Type="http://schemas.openxmlformats.org/officeDocument/2006/relationships/notesSlide" Target="/ppt/notesSlides/notesSlide3.xml" Id="R9d8dfb296679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80f54539c4055" /><Relationship Type="http://schemas.openxmlformats.org/officeDocument/2006/relationships/notesSlide" Target="/ppt/notesSlides/notesSlide4.xml" Id="Rd38d3f94589d4f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0ccc9e78b4210" /><Relationship Type="http://schemas.openxmlformats.org/officeDocument/2006/relationships/notesSlide" Target="/ppt/notesSlides/notesSlide5.xml" Id="Re856b549366340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a04f3c3494f2f" /><Relationship Type="http://schemas.openxmlformats.org/officeDocument/2006/relationships/notesSlide" Target="/ppt/notesSlides/notesSlide6.xml" Id="R2bb8efe8f35e4a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ab5901d7642c7" /><Relationship Type="http://schemas.openxmlformats.org/officeDocument/2006/relationships/notesSlide" Target="/ppt/notesSlides/notesSlide7.xml" Id="R79f13b00211849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85e3c0d944e20" /><Relationship Type="http://schemas.openxmlformats.org/officeDocument/2006/relationships/notesSlide" Target="/ppt/notesSlides/notesSlide8.xml" Id="R3a7f9e2d0e0e47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a79821c2544b4" /><Relationship Type="http://schemas.openxmlformats.org/officeDocument/2006/relationships/notesSlide" Target="/ppt/notesSlides/notesSlide9.xml" Id="R217164bb03754a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d81b2777f475c" /><Relationship Type="http://schemas.openxmlformats.org/officeDocument/2006/relationships/notesSlide" Target="/ppt/notesSlides/notesSlide10.xml" Id="Ra6139a5fcbe349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15de9b9414116" /><Relationship Type="http://schemas.openxmlformats.org/officeDocument/2006/relationships/notesSlide" Target="/ppt/notesSlides/notesSlide11.xml" Id="Rd1f2f5a7da6c45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 accent">
            <a:extLst xmlns:a="http://schemas.openxmlformats.org/drawingml/2006/main">
              <a:ext uri="{FF2B5EF4-FFF2-40B4-BE49-F238E27FC236}">
                <a16:creationId xmlns:a16="http://schemas.microsoft.com/office/drawing/2014/main" id="{83E596FA-148E-4143-8DA0-F947D428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62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F6B48-5932-4FB3-961E-58A9AA7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933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 PL UKai CN"/>
                <a:ea typeface="AR PL UKai CN"/>
                <a:cs typeface="AR PL UKai CN"/>
              </a:defRPr>
            </a:pPr>
            <a:r>
              <a:rPr sz="3375" b="1">
                <a:solidFill>
                  <a:srgbClr val="FFFFFF"/>
                </a:solidFill>
                <a:latin typeface="AR PL UKai CN"/>
                <a:ea typeface="AR PL UKai CN"/>
                <a:cs typeface="AR PL UKai CN"/>
              </a:rPr>
              <a:t>Game Theory for Modeling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 PL UKai CN"/>
                <a:ea typeface="AR PL UKai CN"/>
                <a:cs typeface="AR PL UKai CN"/>
              </a:defRPr>
            </a:pPr>
            <a:r>
              <a:rPr sz="3375" b="1">
                <a:solidFill>
                  <a:srgbClr val="FFFFFF"/>
                </a:solidFill>
                <a:latin typeface="AR PL UKai CN"/>
                <a:ea typeface="AR PL UKai CN"/>
                <a:cs typeface="AR PL UKai CN"/>
              </a:rPr>
              <a:t>Poisoning Attacks in Federated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FC2FD-2323-4911-A182-73E291A6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CC8C8"/>
                </a:solidFill>
                <a:latin typeface="AR PL UKai CN"/>
                <a:ea typeface="AR PL UKai CN"/>
                <a:cs typeface="AR PL UKai CN"/>
              </a:defRPr>
            </a:pPr>
            <a:r>
              <a:rPr sz="1800">
                <a:solidFill>
                  <a:srgbClr val="5CC8C8"/>
                </a:solidFill>
                <a:latin typeface="AR PL UKai CN"/>
                <a:ea typeface="AR PL UKai CN"/>
                <a:cs typeface="AR PL UKai CN"/>
              </a:rPr>
              <a:t>Concepts, game families, and literature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C018A-E13B-4A28-A203-47052CE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AD0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B8CAD0"/>
                </a:solidFill>
                <a:latin typeface="AR PL UKai CN"/>
                <a:ea typeface="AR PL UKai CN"/>
                <a:cs typeface="AR PL UKai CN"/>
              </a:rPr>
              <a:t>Academic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04210-F6BD-44F9-9798-A4D2983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6A84B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D6A84B"/>
                </a:solidFill>
                <a:latin typeface="AR PL UKai CN"/>
                <a:ea typeface="AR PL UKai CN"/>
                <a:cs typeface="AR PL UKai CN"/>
              </a:rPr>
              <a:t>Federated Learning Security</a:t>
            </a:r>
          </a:p>
        </p:txBody>
      </p:sp>
    </p:spTree>
    <p:extLst>
      <p:ext uri="{BB962C8B-B14F-4D97-AF65-F5344CB8AC3E}">
        <p14:creationId xmlns:p14="http://schemas.microsoft.com/office/powerpoint/2010/main" val="2005762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77A1B-3ECB-40E6-939A-EE35B552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Why poisoning can be modeled strategically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D108279E-DDD9-4980-8FE6-1F8BED25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630FD-E992-40AA-8160-574222AB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F413B-DFC6-4C18-9DAA-844CE34F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8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A poisoned update is not only an anomaly. It can be a deliberate response to the defender's expected behavior.</a:t>
            </a:r>
          </a:p>
        </p:txBody>
      </p:sp>
      <p:sp>
        <p:nvSpPr>
          <p:cNvPr id="5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EA111D1D-5C06-4872-A362-D13652E6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65257-DF15-47A7-B64E-09D96A26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Attacker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794EB-DA77-4BDB-9FBF-FD66BBCC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The attacker can choose timing, target, intensity, or whether to mimic benign updates.</a:t>
            </a:r>
          </a:p>
        </p:txBody>
      </p:sp>
      <p:sp>
        <p:nvSpPr>
          <p:cNvPr id="8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50E84A84-B02E-49BD-954A-62FBD5F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9AF2D-15DE-4ABC-A2E6-AFE50E0F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Defender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85B51-66DF-4EB5-93E3-A686317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05125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The defender can admit, reject, reweight, inspect, or isolate an update or client.</a:t>
            </a:r>
          </a:p>
        </p:txBody>
      </p:sp>
      <p:sp>
        <p:nvSpPr>
          <p:cNvPr id="11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3A7B77B8-A9F0-4422-8F47-4ECAA261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187EB-671E-4E1E-83ED-9763B20E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Mutual adaptation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953BA-FC7B-4B5C-87B9-4D3BB287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Each decision changes the other side's future incentives, costs, and expected outcomes.</a:t>
            </a:r>
          </a:p>
        </p:txBody>
      </p:sp>
    </p:spTree>
    <p:extLst>
      <p:ext uri="{BB962C8B-B14F-4D97-AF65-F5344CB8AC3E}">
        <p14:creationId xmlns:p14="http://schemas.microsoft.com/office/powerpoint/2010/main" val="809345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C42F3-D688-4DB8-B327-5B625A9C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Core vocabulary of game-theoretic modeling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B1E1E3AD-F4E1-4C53-AAC1-D2564ACE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59124-BD57-4686-8995-0CF4264D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10763250" cy="4267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3114"/>
                <a:gridCol w="3696470"/>
                <a:gridCol w="4783667"/>
              </a:tblGrid>
              <a:tr h="711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Poisoning example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An entity that chooses actions to improve its utility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Attacker, defender, client, receiving node</a:t>
                      </a:r>
                    </a:p>
                  </a:txBody>
                  <a:tcPr marL="91440" marR="91440" marT="45720" marB="45720"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 feasible choice at a decision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Attack intensity; accept, reject, or reweight</a:t>
                      </a:r>
                    </a:p>
                  </a:txBody>
                  <a:tcPr marL="91440" marR="91440" marT="45720" marB="45720"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Strategy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 rule for selecting actions in possible situations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 policy maps observed updates to a defense action</a:t>
                      </a:r>
                    </a:p>
                  </a:txBody>
                  <a:tcPr marL="91440" marR="91440" marT="45720" marB="45720"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Utility / payoff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Numerical preference over outcomes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Model performance, attack success, effort, false-positive cost</a:t>
                      </a:r>
                    </a:p>
                  </a:txBody>
                  <a:tcPr marL="91440" marR="91440" marT="45720" marB="45720"/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Information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What a player knows when acting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The defender may not know attacker identity or type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0782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DC2B9-CC66-44EA-B5DC-44E5E090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Elements of a game model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DA44A4DF-79D7-4A40-94BA-1BE8C0DF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F458F-980F-4BD9-BA38-575359F9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B0075-E153-461D-8609-B59ABCC1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01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A paper must define these elements before it can claim a strategic game model.</a:t>
            </a:r>
          </a:p>
        </p:txBody>
      </p:sp>
      <p:sp>
        <p:nvSpPr>
          <p:cNvPr id="5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D04E4BD2-B8AB-4ED8-9616-B63F7598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03BDE-92F8-4024-BE80-B6813FED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Players and action 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8CF2B-0C1E-4F71-8A7A-54FD6BA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8602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Who makes decisions, and which actions are feasible for each player.</a:t>
            </a:r>
          </a:p>
        </p:txBody>
      </p:sp>
      <p:sp>
        <p:nvSpPr>
          <p:cNvPr id="8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15731C23-70E0-489E-AF25-20C74242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5BC4C-81FF-4D12-AF8C-1D729BCD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717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Information and beliefs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D6812-6A48-48AA-A4DB-DEC2C10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8602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Which observations are public, private, or uncertain at the time of action.</a:t>
            </a:r>
          </a:p>
        </p:txBody>
      </p:sp>
      <p:sp>
        <p:nvSpPr>
          <p:cNvPr id="11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AA77FEAE-2E40-4BA1-A51B-47B365FD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EAE8A-36EC-459F-8394-DBE6020C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Utilities and costs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C19FB-83DA-4E6E-8EB3-76BB55FA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6242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How performance, damage, effort, false positives, and overhead affect preferences.</a:t>
            </a:r>
          </a:p>
        </p:txBody>
      </p:sp>
      <p:sp>
        <p:nvSpPr>
          <p:cNvPr id="14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2E2D206B-58DF-4A52-82BD-CF76BF5F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14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462B1-65D7-41A1-A199-484F35F8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Timing and transition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22DDF-F8F9-438A-85B6-95088F8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62425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Whether choices are simultaneous or sequential, and how one round changes the next state.</a:t>
            </a:r>
          </a:p>
        </p:txBody>
      </p:sp>
    </p:spTree>
    <p:extLst>
      <p:ext uri="{BB962C8B-B14F-4D97-AF65-F5344CB8AC3E}">
        <p14:creationId xmlns:p14="http://schemas.microsoft.com/office/powerpoint/2010/main" val="1916976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073D9-0658-4540-B028-956C621E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Equilibrium and solution concepts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FCA7ECBB-C2A2-4C36-A52F-069DF45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C02A5-815B-4229-B3FA-F7163510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BF4A2-8D59-4604-907B-8730D51F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62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59"/>
          </a:bodyPr>
          <a:lstStyle xmlns:a="http://schemas.openxmlformats.org/drawingml/2006/main"/>
          <a:p xmlns:a="http://schemas.openxmlformats.org/drawingml/2006/main">
            <a:pPr>
              <a:defRPr sz="1575" i="1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i="1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An equilibrium predicts stable behavior within stated assumptions. It does not guarantee safety in every real system.</a:t>
            </a:r>
          </a:p>
        </p:txBody>
      </p:sp>
      <p:sp>
        <p:nvSpPr>
          <p:cNvPr id="5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2F42CC3B-729E-43A8-994A-013F4A30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66184-B95A-4DBA-9F22-0DAE71A2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Nash equilibrium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A9806-D03F-4EF6-A6E9-0F2ABB99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76525"/>
            <a:ext cx="925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No player improves its utility by changing strategy alone while others remain fixed.</a:t>
            </a:r>
          </a:p>
        </p:txBody>
      </p:sp>
      <p:sp>
        <p:nvSpPr>
          <p:cNvPr id="8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A7ECC80C-85E6-4EEB-9055-3F0FCB41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38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44EAE-20F9-42E9-B6E5-109ACD4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Bayesian Nash equilibrium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9E8B4-EA49-44C0-B428-A6587A35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86175"/>
            <a:ext cx="925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Each player acts under beliefs about hidden types, such as benign or malicious clients.</a:t>
            </a:r>
          </a:p>
        </p:txBody>
      </p:sp>
      <p:sp>
        <p:nvSpPr>
          <p:cNvPr id="11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B03C82FA-1760-4307-890D-DA9FE47A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C8C8"/>
          </a:solidFill>
          <a:ln xmlns:a="http://schemas.openxmlformats.org/drawingml/2006/main" w="0">
            <a:solidFill>
              <a:srgbClr val="5CC8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8EE06-A0DB-49E9-9AB6-ABA50958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925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Stackelberg equilibrium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4A8D3-129F-4DD1-97E9-78B05E5B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925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A leader commits to a strategy and a follower best-responds. The timing must be justified.</a:t>
            </a:r>
          </a:p>
        </p:txBody>
      </p:sp>
    </p:spTree>
    <p:extLst>
      <p:ext uri="{BB962C8B-B14F-4D97-AF65-F5344CB8AC3E}">
        <p14:creationId xmlns:p14="http://schemas.microsoft.com/office/powerpoint/2010/main" val="1519676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4B22C-1A36-4371-B025-CE55D79D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Game families used in poisoning research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93D54F45-C897-4C6B-B78E-63AD698D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8AC41-69F4-486A-81E6-CE199261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04850" y="1390650"/>
          <a:ext xmlns:a="http://schemas.openxmlformats.org/drawingml/2006/main" cx="10763250" cy="4476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3587750"/>
                <a:gridCol w="4484688"/>
              </a:tblGrid>
              <a:tr h="63953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Game family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Key assumption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What it captures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Normal-form / Nash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One-stage, simultaneous choices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 compact attack-defense decision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Repeated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The interaction continues over rounds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Trust building, delayed attacks, on-off behavior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Bayesian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 player type is hidden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Uncertain attacker identity or attack family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Stochastic / Markov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State changes after actions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Adaptation across learning rounds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Stackelberg 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Leader commits; follower responds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Policy commitment and adaptive best response</a:t>
                      </a:r>
                    </a:p>
                  </a:txBody>
                  <a:tcPr marL="91440" marR="91440" marT="45720" marB="45720"/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Coalitional / Shapley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Coalition contribution is valued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Incentives or contribution-aware aggregation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0415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1CAD3-EAB9-49F0-B0C5-B150BE0C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Information and dynamics across training rounds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C3DB0F75-8763-4193-86FD-042AAE7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123EE-70F9-41AE-B621-C5294F14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D889E-FD4B-4A7B-AC91-7F7A27C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800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Incomplete information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CC4D6-6C63-43EA-90BC-F2E80E74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500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A defender cannot directly observe whether an unusual update comes from malicious behavior or benign data heterogeneity.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5FDA8-6D9F-4034-BB68-3D61F789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33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800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Repeated interaction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941F9-9571-4F3D-81E4-38C36013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500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Training rounds create history. Previous actions can change trust, detection risk, model state, and later incentives.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978BB-BD67-40DE-9B2C-0B7B75B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725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Bayesian models represent uncertainty through beliefs over hidden types. Markov models represent how the state changes after actions.</a:t>
            </a:r>
          </a:p>
        </p:txBody>
      </p:sp>
    </p:spTree>
    <p:extLst>
      <p:ext uri="{BB962C8B-B14F-4D97-AF65-F5344CB8AC3E}">
        <p14:creationId xmlns:p14="http://schemas.microsoft.com/office/powerpoint/2010/main" val="183423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E6CF8-2FCA-49E0-B219-E0D9B86F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Literature map: five different uses of game theory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468199AD-AB3B-4B2C-9EE5-4B15CAEA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E6673-8A25-4926-9C0A-69502664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08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04850" y="1381125"/>
          <a:ext xmlns:a="http://schemas.openxmlformats.org/drawingml/2006/main" cx="10763250" cy="4495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17992"/>
                <a:gridCol w="3913909"/>
                <a:gridCol w="4131348"/>
              </a:tblGrid>
              <a:tr h="7493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Game-theory approach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Primary purpose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Sagduyu et al. (2023)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Nash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Poisoning and client-admission decisions</a:t>
                      </a:r>
                    </a:p>
                  </a:txBody>
                  <a:tcPr marL="91440" marR="91440" marT="45720" marB="45720"/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FedGame (2023)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Minimax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Defense against dynamic backdoor attackers</a:t>
                      </a:r>
                    </a:p>
                  </a:txBody>
                  <a:tcPr marL="91440" marR="91440" marT="45720" marB="45720"/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Meta Stackelberg (2024)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Bayesian Stackelberg Markov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Adaptive defense under uncertain attack types</a:t>
                      </a:r>
                    </a:p>
                  </a:txBody>
                  <a:tcPr marL="91440" marR="91440" marT="45720" marB="45720"/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pFedGame (2024)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Constant-sum cooperative weighting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Localized DFL aggregation in dynamic topology</a:t>
                      </a:r>
                    </a:p>
                  </a:txBody>
                  <a:tcPr marL="91440" marR="91440" marT="45720" marB="45720"/>
                </a:tc>
              </a:tr>
              <a:tr h="749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FORCE (2026)</a:t>
                      </a:r>
                    </a:p>
                  </a:txBody>
                  <a:tcPr marL="91440" marR="91440" marT="45720" marB="45720">
                    <a:solidFill>
                      <a:srgbClr val="E8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Shapley-inspired contribution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Byzantine-resilient DFL aggregation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2886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3FE5C-3253-47F5-B480-AB73F28B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How the reviewed papers differ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D8C26ECA-E50D-4E04-8323-FF3E8937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B17DF-53B8-4835-87EE-4BBC2D7E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619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05000"/>
                <a:gridCol w="2762250"/>
                <a:gridCol w="3048000"/>
                <a:gridCol w="3333750"/>
              </a:tblGrid>
              <a:tr h="769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Paper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Players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Information / timing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Strategic focus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Sagduyu et al.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Attacker and defender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Compact poisoning-admission game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Nash utility trade-off</a:t>
                      </a:r>
                    </a:p>
                  </a:txBody>
                  <a:tcPr marL="91440" marR="91440" marT="45720" marB="45720"/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FedGame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Dynamic attacker and defender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Adaptive interaction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Minimax robustness against backdoors</a:t>
                      </a:r>
                    </a:p>
                  </a:txBody>
                  <a:tcPr marL="91440" marR="91440" marT="45720" marB="45720"/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Meta Stackelberg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Defender leader; attacker follower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Hidden attack type; multi-round 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Meta-policy adaptation</a:t>
                      </a:r>
                    </a:p>
                  </a:txBody>
                  <a:tcPr marL="91440" marR="91440" marT="45720" marB="45720"/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pFedGame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Own model and aggregate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Local aggregation rounds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Weight optimization, not adversarial defense</a:t>
                      </a:r>
                    </a:p>
                  </a:txBody>
                  <a:tcPr marL="91440" marR="91440" marT="45720" marB="45720"/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D1B2A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FORCE</a:t>
                      </a:r>
                    </a:p>
                  </a:txBody>
                  <a:tcPr marL="91440" marR="91440" marT="45720" marB="45720">
                    <a:solidFill>
                      <a:srgbClr val="FBF4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Contributors / local 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Contribution 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  <a:latin typeface="AR PL UKai CN"/>
                          <a:ea typeface="AR PL UKai CN"/>
                          <a:cs typeface="AR PL UKai CN"/>
                        </a:rPr>
                        <a:t>Shapley-inspired Byzantine resilience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51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1789D-0A98-4AA4-8759-70F2F3A3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Literature synthesis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B2C77D5B-41E3-408C-B531-831EEFBD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CF9AF-F14B-428D-B34D-50FC087D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10</a:t>
            </a:r>
          </a:p>
        </p:txBody>
      </p:sp>
      <p:sp>
        <p:nvSpPr>
          <p:cNvPr id="4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092594C7-4826-4B0E-975F-360246FF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B0237-04F1-4260-80AF-CF98A216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145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Strategic defense has strong centralized-FL precedents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4E19E-634B-436E-B52D-B06EE773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2882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Nash, minimax, and Bayesian Stackelberg approaches explicitly model attacker and defender incentives.</a:t>
            </a:r>
          </a:p>
        </p:txBody>
      </p:sp>
      <p:sp>
        <p:nvSpPr>
          <p:cNvPr id="7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6AA33C4D-A44E-4BEA-9066-87BC4806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B"/>
          </a:solidFill>
          <a:ln xmlns:a="http://schemas.openxmlformats.org/drawingml/2006/main" w="0">
            <a:solidFill>
              <a:srgbClr val="D6A8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A261B-664B-4569-823A-513E804C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DFL work uses game theory in a different 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9390C-F44A-4409-8062-D6EC3925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5757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pFedGame focuses on local aggregation weights, while FORCE uses contribution valuation for Byzantine resilience.</a:t>
            </a:r>
          </a:p>
        </p:txBody>
      </p:sp>
      <p:sp>
        <p:nvSpPr>
          <p:cNvPr id="10" name="bullet marker">
            <a:extLst xmlns:a="http://schemas.openxmlformats.org/drawingml/2006/main">
              <a:ext uri="{FF2B5EF4-FFF2-40B4-BE49-F238E27FC236}">
                <a16:creationId xmlns:a16="http://schemas.microsoft.com/office/drawing/2014/main" id="{38DB0892-C09B-4445-8A01-6F9B0C81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646"/>
          </a:solidFill>
          <a:ln xmlns:a="http://schemas.openxmlformats.org/drawingml/2006/main" w="0">
            <a:solidFill>
              <a:srgbClr val="A6464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E393B-BA88-450D-9A9F-5E2D10C8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15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The terminology needs 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B11FF-4033-4E40-97A0-DA2B9C48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8632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defRPr>
            </a:pPr>
            <a:r>
              <a:rPr sz="1275">
                <a:solidFill>
                  <a:srgbClr val="506174"/>
                </a:solidFill>
                <a:latin typeface="AR PL UKai CN"/>
                <a:ea typeface="AR PL UKai CN"/>
                <a:cs typeface="AR PL UKai CN"/>
              </a:rPr>
              <a:t>A game-theoretic aggregation heuristic differs from an adversarial strategic game with players, actions, information, payoffs, and equilibrium.</a:t>
            </a:r>
          </a:p>
        </p:txBody>
      </p:sp>
    </p:spTree>
    <p:extLst>
      <p:ext uri="{BB962C8B-B14F-4D97-AF65-F5344CB8AC3E}">
        <p14:creationId xmlns:p14="http://schemas.microsoft.com/office/powerpoint/2010/main" val="15480184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E25CC-BABB-44B5-BDB1-FE09A8A4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defRPr>
            </a:pPr>
            <a:r>
              <a:rPr sz="2475" b="1">
                <a:solidFill>
                  <a:srgbClr val="0D1B2A"/>
                </a:solidFill>
                <a:latin typeface="AR PL UKai CN"/>
                <a:ea typeface="AR PL UKai CN"/>
                <a:cs typeface="AR PL UKai CN"/>
              </a:rPr>
              <a:t>Selected references</a:t>
            </a:r>
          </a:p>
        </p:txBody>
      </p:sp>
      <p:sp>
        <p:nvSpPr>
          <p:cNvPr id="2" name="title accent">
            <a:extLst xmlns:a="http://schemas.openxmlformats.org/drawingml/2006/main">
              <a:ext uri="{FF2B5EF4-FFF2-40B4-BE49-F238E27FC236}">
                <a16:creationId xmlns:a16="http://schemas.microsoft.com/office/drawing/2014/main" id="{9B41B074-21DA-4B66-87C2-ABD41D3A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94FD-01F9-482F-80B3-3A41102F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050" b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8561E-F60D-40A7-80EA-E1378725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defRPr>
            </a:pPr>
            <a:r>
              <a: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rPr>
              <a:t>1. Sagduyu, Erpek, and Shi. Securing NextG Systems against Poisoning Attacks on Federated Learning: A Game-Theoretic Solution. arXiv:2312.17164, 2023.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08C86-6C60-41DC-B687-BB6713C3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defRPr>
            </a:pPr>
            <a:r>
              <a: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rPr>
              <a:t>2. Jia et al. FedGame: A Game-Theoretic Defense against Backdoor Attacks in Federated Learning. NeurIPS 2023.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D8F04-D89C-4E19-A44C-2CB704D9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defRPr>
            </a:pPr>
            <a:r>
              <a: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rPr>
              <a:t>3. Li et al. Meta Stackelberg Game: Robust Federated Learning against Adaptive and Mixed Poisoning Attacks. arXiv:2410.17431, 2024.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19D81-F8D3-4AF7-83AB-5D5C5095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defRPr>
            </a:pPr>
            <a:r>
              <a: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rPr>
              <a:t>4. Behera and Chakraborty. pFedGame: Decentralized Federated Learning using Game Theory in Dynamic Topology. arXiv:2410.04058, 2024.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9F24A-53B0-486E-BECE-1298FE61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defRPr>
            </a:pPr>
            <a:r>
              <a:rPr sz="1200">
                <a:solidFill>
                  <a:srgbClr val="122033"/>
                </a:solidFill>
                <a:latin typeface="AR PL UKai CN"/>
                <a:ea typeface="AR PL UKai CN"/>
                <a:cs typeface="AR PL UKai CN"/>
              </a:rPr>
              <a:t>5. Dong et al. FORCE: Byzantine-Resilient Decentralized Federated Learning via Game-Theoretic Contribution Aggregation. IEEE TIFS, 2026. DOI: 10.1109/TIFS.2026.3674690.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BA079-2631-4D4F-85E2-446EA3C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i="1">
                <a:solidFill>
                  <a:srgbClr val="007C83"/>
                </a:solidFill>
                <a:latin typeface="AR PL UKai CN"/>
                <a:ea typeface="AR PL UKai CN"/>
                <a:cs typeface="AR PL UKai CN"/>
              </a:defRPr>
            </a:pPr>
            <a:r>
              <a:rPr sz="1125" i="1">
                <a:solidFill>
                  <a:srgbClr val="007C83"/>
                </a:solidFill>
                <a:latin typeface="AR PL UKai CN"/>
                <a:ea typeface="AR PL UKai CN"/>
                <a:cs typeface="AR PL UKai CN"/>
              </a:rPr>
              <a:t>Full links and reading notes: game_theory_research_note.md</a:t>
            </a:r>
          </a:p>
        </p:txBody>
      </p:sp>
    </p:spTree>
    <p:extLst>
      <p:ext uri="{BB962C8B-B14F-4D97-AF65-F5344CB8AC3E}">
        <p14:creationId xmlns:p14="http://schemas.microsoft.com/office/powerpoint/2010/main" val="2115043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2026-09-28T20:39:39.6680000Z</dcterms:created>
  <dcterms:modified xsi:type="dcterms:W3CDTF">2026-09-28T20:39:39.6680000Z</dcterms:modified>
</coreProperties>
</file>